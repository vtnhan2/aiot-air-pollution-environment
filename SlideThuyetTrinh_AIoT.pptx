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59775" y="-1645920"/>
            <a:ext cx="5486400" cy="548640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3931920"/>
            <a:ext cx="4572000" cy="4572000"/>
          </a:xfrm>
          <a:prstGeom prst="ellipse">
            <a:avLst/>
          </a:prstGeom>
          <a:solidFill>
            <a:srgbClr val="16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12" y="502920"/>
            <a:ext cx="2214015" cy="1280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182880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2D3EE"/>
                </a:solidFill>
                <a:latin typeface="Segoe UI"/>
              </a:rPr>
              <a:t>TRƯỜNG ĐẠI HỌC LẠC HỒNG</a:t>
            </a:r>
          </a:p>
          <a:p>
            <a:pPr algn="l"/>
            <a:r>
              <a:rPr sz="1250" b="1" i="0">
                <a:solidFill>
                  <a:srgbClr val="96A8C0"/>
                </a:solidFill>
                <a:latin typeface="Segoe UI"/>
              </a:rPr>
              <a:t>KHOA CÔNG NGHỆ THÔNG TIN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0B1627"/>
                </a:solidFill>
                <a:latin typeface="Segoe UI"/>
              </a:rPr>
              <a:t>BÁO CÁO ĐỒ ÁN MÔN HỌC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20040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3500" b="1" i="0">
                <a:solidFill>
                  <a:srgbClr val="F1F5F9"/>
                </a:solidFill>
                <a:latin typeface="Segoe UI Semibold"/>
              </a:rPr>
              <a:t>HỆ THỐNG GIÁM SÁT &amp; DỰ ĐOÁN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3500" b="1" i="0">
                <a:solidFill>
                  <a:srgbClr val="F1F5F9"/>
                </a:solidFill>
                <a:latin typeface="Segoe UI Semibold"/>
              </a:rPr>
              <a:t>CHẤT LƯỢNG KHÔNG KHÍ </a:t>
            </a:r>
            <a:r>
              <a:rPr sz="3500" b="1" i="0">
                <a:solidFill>
                  <a:srgbClr val="22D3EE"/>
                </a:solidFill>
                <a:latin typeface="Segoe UI Semibold"/>
              </a:rPr>
              <a:t>SỬ DỤNG EDGE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00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1">
                <a:solidFill>
                  <a:srgbClr val="2DD4BF"/>
                </a:solidFill>
                <a:latin typeface="Segoe UI"/>
              </a:rPr>
              <a:t>Air Quality AIoT  •  ESP32-S3  •  LSTM TensorFlow Lite Micro  •  Firebase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8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GVHD:  </a:t>
            </a:r>
            <a:r>
              <a:rPr sz="1300" b="0" i="0">
                <a:solidFill>
                  <a:srgbClr val="F1F5F9"/>
                </a:solidFill>
                <a:latin typeface="Segoe UI"/>
              </a:rPr>
              <a:t>Hồ Ngọc Hoàng Long</a:t>
            </a:r>
            <a:r>
              <a:rPr sz="1300" b="1" i="0">
                <a:solidFill>
                  <a:srgbClr val="22D3EE"/>
                </a:solidFill>
                <a:latin typeface="Segoe UI"/>
              </a:rPr>
              <a:t>        Lớp:  </a:t>
            </a:r>
            <a:r>
              <a:rPr sz="1300" b="0" i="0">
                <a:solidFill>
                  <a:srgbClr val="F1F5F9"/>
                </a:solidFill>
                <a:latin typeface="Segoe UI"/>
              </a:rPr>
              <a:t>23CT111</a:t>
            </a:r>
          </a:p>
          <a:p>
            <a:pPr algn="l"/>
            <a:r>
              <a:rPr sz="1300" b="1" i="0">
                <a:solidFill>
                  <a:srgbClr val="22D3EE"/>
                </a:solidFill>
                <a:latin typeface="Segoe UI"/>
              </a:rPr>
              <a:t>SVTH: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Tống Anh Kha  •  Nguyễn Thanh Nam  •  Đinh Thị Quỳnh Anh  •  Nguyễn Ngô Tôn Thái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335024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00  MỤC LỤC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Nội dung trình bày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Segoe UI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31720"/>
            <a:ext cx="5349240" cy="1207008"/>
          </a:xfrm>
          <a:prstGeom prst="roundRect">
            <a:avLst>
              <a:gd name="adj" fmla="val 9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331720"/>
            <a:ext cx="109728" cy="12070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0976" y="2642616"/>
            <a:ext cx="566928" cy="5669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64261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514600"/>
            <a:ext cx="411480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F1F5F9"/>
                </a:solidFill>
                <a:latin typeface="Segoe UI Semibold"/>
              </a:rPr>
              <a:t>Giới thiệu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6A8C0"/>
                </a:solidFill>
                <a:latin typeface="Segoe UI"/>
              </a:rPr>
              <a:t>Đặt vấn đề, mục tiêu &amp; phạm vi nghiên cứu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0528" y="2331720"/>
            <a:ext cx="5349240" cy="1207008"/>
          </a:xfrm>
          <a:prstGeom prst="roundRect">
            <a:avLst>
              <a:gd name="adj" fmla="val 9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10528" y="2331720"/>
            <a:ext cx="109728" cy="1207008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03136" y="2642616"/>
            <a:ext cx="566928" cy="566928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264261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514600"/>
            <a:ext cx="411480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F1F5F9"/>
                </a:solidFill>
                <a:latin typeface="Segoe UI Semibold"/>
              </a:rPr>
              <a:t>Thiết kế hệ thống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6A8C0"/>
                </a:solidFill>
                <a:latin typeface="Segoe UI"/>
              </a:rPr>
              <a:t>Kiến trúc 3 tầng, phần cứng &amp; sơ đồ đấu nối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794760"/>
            <a:ext cx="5349240" cy="1207008"/>
          </a:xfrm>
          <a:prstGeom prst="roundRect">
            <a:avLst>
              <a:gd name="adj" fmla="val 9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794760"/>
            <a:ext cx="109728" cy="12070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0976" y="4105656"/>
            <a:ext cx="566928" cy="5669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10565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977640"/>
            <a:ext cx="411480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F1F5F9"/>
                </a:solidFill>
                <a:latin typeface="Segoe UI Semibold"/>
              </a:rPr>
              <a:t>Cơ sở lý thuyết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6A8C0"/>
                </a:solidFill>
                <a:latin typeface="Segoe UI"/>
              </a:rPr>
              <a:t>Lọc nhiễu Z-Score+EMA, mạng LSTM, lượng tử hóa INT8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0528" y="3794760"/>
            <a:ext cx="5349240" cy="1207008"/>
          </a:xfrm>
          <a:prstGeom prst="roundRect">
            <a:avLst>
              <a:gd name="adj" fmla="val 9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10528" y="3794760"/>
            <a:ext cx="109728" cy="12070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03136" y="4105656"/>
            <a:ext cx="566928" cy="5669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410565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977640"/>
            <a:ext cx="411480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F1F5F9"/>
                </a:solidFill>
                <a:latin typeface="Segoe UI Semibold"/>
              </a:rPr>
              <a:t>Triển khai Firmware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6A8C0"/>
                </a:solidFill>
                <a:latin typeface="Segoe UI"/>
              </a:rPr>
              <a:t>Luồng hoạt động &amp; tối ưu trên ESP32-S3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257800"/>
            <a:ext cx="5349240" cy="1207008"/>
          </a:xfrm>
          <a:prstGeom prst="roundRect">
            <a:avLst>
              <a:gd name="adj" fmla="val 9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5257800"/>
            <a:ext cx="109728" cy="120700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0976" y="5568696"/>
            <a:ext cx="566928" cy="5669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56869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5440680"/>
            <a:ext cx="411480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F1F5F9"/>
                </a:solidFill>
                <a:latin typeface="Segoe UI Semibold"/>
              </a:rPr>
              <a:t>Web Dashboard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6A8C0"/>
                </a:solidFill>
                <a:latin typeface="Segoe UI"/>
              </a:rPr>
              <a:t>Giao diện Glassmorphism đồng bộ thời gian thực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0528" y="5257800"/>
            <a:ext cx="5349240" cy="1207008"/>
          </a:xfrm>
          <a:prstGeom prst="roundRect">
            <a:avLst>
              <a:gd name="adj" fmla="val 9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10528" y="5257800"/>
            <a:ext cx="109728" cy="120700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03136" y="5568696"/>
            <a:ext cx="566928" cy="566928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03136" y="556869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5440680"/>
            <a:ext cx="411480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F1F5F9"/>
                </a:solidFill>
                <a:latin typeface="Segoe UI Semibold"/>
              </a:rPr>
              <a:t>Kết quả &amp; Kết luận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6A8C0"/>
                </a:solidFill>
                <a:latin typeface="Segoe UI"/>
              </a:rPr>
              <a:t>Thực nghiệm, đánh giá và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1664207" cy="38404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664207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01  GIỚI THIỆU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Đặt vấn đề — Ô nhiễm bụi mịn PM2.5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34D399"/>
                </a:solidFill>
                <a:latin typeface="Segoe UI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40280"/>
            <a:ext cx="5486400" cy="3977639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4231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87171"/>
                </a:solidFill>
                <a:latin typeface="Segoe UI"/>
              </a:rPr>
              <a:t>🫁  Mối đe dọa sức khỏe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971800"/>
            <a:ext cx="4983480" cy="3108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F87171"/>
                </a:solidFill>
                <a:latin typeface="Segoe UI"/>
              </a:rPr>
              <a:t>●  </a:t>
            </a:r>
            <a:r>
              <a:rPr sz="1400" b="1" i="0">
                <a:solidFill>
                  <a:srgbClr val="F1F5F9"/>
                </a:solidFill>
                <a:latin typeface="Segoe UI"/>
              </a:rPr>
              <a:t>PM2.5</a:t>
            </a:r>
            <a:r>
              <a:rPr sz="1400" b="0" i="0">
                <a:solidFill>
                  <a:srgbClr val="F1F5F9"/>
                </a:solidFill>
                <a:latin typeface="Segoe UI"/>
              </a:rPr>
              <a:t> — hạt đường kính ≤ 2,5 µm, xuyên qua mũi họng, vào sâu phế nang và mạch máu.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F87171"/>
                </a:solidFill>
                <a:latin typeface="Segoe UI"/>
              </a:rPr>
              <a:t>●  </a:t>
            </a:r>
            <a:r>
              <a:rPr sz="1400" b="0" i="0">
                <a:solidFill>
                  <a:srgbClr val="F1F5F9"/>
                </a:solidFill>
                <a:latin typeface="Segoe UI"/>
              </a:rPr>
              <a:t>Gây bệnh hô hấp mãn tính, tim mạch, ung thư phổi (theo WHO).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F87171"/>
                </a:solidFill>
                <a:latin typeface="Segoe UI"/>
              </a:rPr>
              <a:t>●  </a:t>
            </a:r>
            <a:r>
              <a:rPr sz="1400" b="0" i="0">
                <a:solidFill>
                  <a:srgbClr val="F1F5F9"/>
                </a:solidFill>
                <a:latin typeface="Segoe UI"/>
              </a:rPr>
              <a:t>Ngưỡng an toàn WHO 2021: </a:t>
            </a:r>
            <a:r>
              <a:rPr sz="1400" b="1" i="0">
                <a:solidFill>
                  <a:srgbClr val="FBBF24"/>
                </a:solidFill>
                <a:latin typeface="Segoe UI"/>
              </a:rPr>
              <a:t>≤ 5 µg/m³/năm</a:t>
            </a:r>
            <a:r>
              <a:rPr sz="1400" b="0" i="0">
                <a:solidFill>
                  <a:srgbClr val="F1F5F9"/>
                </a:solidFill>
                <a:latin typeface="Segoe UI"/>
              </a:rPr>
              <a:t> — đô thị Việt Nam thường vượt nhiều lần.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2240280"/>
            <a:ext cx="5212080" cy="3977639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4231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Segoe UI"/>
              </a:rPr>
              <a:t>⚠  Hạn chế của giải pháp hiện nay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971800"/>
            <a:ext cx="4709160" cy="3108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 i="0">
                <a:solidFill>
                  <a:srgbClr val="FBBF24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F1F5F9"/>
                </a:solidFill>
                <a:latin typeface="Segoe UI"/>
              </a:rPr>
              <a:t>Trạm quan trắc </a:t>
            </a:r>
            <a:r>
              <a:rPr sz="1350" b="1" i="0">
                <a:solidFill>
                  <a:srgbClr val="FBBF24"/>
                </a:solidFill>
                <a:latin typeface="Segoe UI"/>
              </a:rPr>
              <a:t>thụ động</a:t>
            </a:r>
            <a:r>
              <a:rPr sz="1350" b="0" i="0">
                <a:solidFill>
                  <a:srgbClr val="F1F5F9"/>
                </a:solidFill>
                <a:latin typeface="Segoe UI"/>
              </a:rPr>
              <a:t>: chỉ đo tức thời, không dự báo, không cảnh báo sớm.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 i="0">
                <a:solidFill>
                  <a:srgbClr val="FBBF24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F1F5F9"/>
                </a:solidFill>
                <a:latin typeface="Segoe UI"/>
              </a:rPr>
              <a:t>Mô hình </a:t>
            </a:r>
            <a:r>
              <a:rPr sz="1350" b="1" i="0">
                <a:solidFill>
                  <a:srgbClr val="FBBF24"/>
                </a:solidFill>
                <a:latin typeface="Segoe UI"/>
              </a:rPr>
              <a:t>Cloud-only</a:t>
            </a:r>
            <a:r>
              <a:rPr sz="1350" b="0" i="0">
                <a:solidFill>
                  <a:srgbClr val="F1F5F9"/>
                </a:solidFill>
                <a:latin typeface="Segoe UI"/>
              </a:rPr>
              <a:t>: độ trễ cao, tốn băng thông, mất cảnh báo khi rớt mạng.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 i="0">
                <a:solidFill>
                  <a:srgbClr val="FBBF24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F1F5F9"/>
                </a:solidFill>
                <a:latin typeface="Segoe UI"/>
              </a:rPr>
              <a:t>Cảm biến bụi quang giá rẻ rất </a:t>
            </a:r>
            <a:r>
              <a:rPr sz="1350" b="1" i="0">
                <a:solidFill>
                  <a:srgbClr val="FBBF24"/>
                </a:solidFill>
                <a:latin typeface="Segoe UI"/>
              </a:rPr>
              <a:t>nhạy với gai nhiễu</a:t>
            </a:r>
            <a:r>
              <a:rPr sz="1350" b="0" i="0">
                <a:solidFill>
                  <a:srgbClr val="F1F5F9"/>
                </a:solidFill>
                <a:latin typeface="Segoe UI"/>
              </a:rPr>
              <a:t> (khói, bụi quét nhà, dị vật) → dự báo sai lệch.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6327648"/>
            <a:ext cx="10881360" cy="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1664207" cy="38404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664207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01  GIỚI THIỆU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Giải pháp đề xuất — Edge AI tại biên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1">
                <a:solidFill>
                  <a:srgbClr val="96A8C0"/>
                </a:solidFill>
                <a:latin typeface="Segoe UI"/>
              </a:rPr>
              <a:t>Nhúng trực tiếp thuật toán lọc nhiễu và mô hình AI lên vi điều khiển, hoạt động cả khi mất Internet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34D399"/>
                </a:solidFill>
                <a:latin typeface="Segoe UI"/>
              </a:rP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514600"/>
            <a:ext cx="2670048" cy="356616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514600"/>
            <a:ext cx="2670048" cy="109728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2880360"/>
            <a:ext cx="868680" cy="868680"/>
          </a:xfrm>
          <a:prstGeom prst="ellipse">
            <a:avLst/>
          </a:prstGeom>
          <a:solidFill>
            <a:srgbClr val="1C3352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288036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0" i="0">
                <a:solidFill>
                  <a:srgbClr val="60A5FA"/>
                </a:solidFill>
                <a:latin typeface="Segoe UI"/>
              </a:rPr>
              <a:t>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50" b="1" i="0">
                <a:solidFill>
                  <a:srgbClr val="F1F5F9"/>
                </a:solidFill>
                <a:latin typeface="Segoe UI Semibold"/>
              </a:rPr>
              <a:t>Đo đa chỉ số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2157984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6A8C0"/>
                </a:solidFill>
                <a:latin typeface="Segoe UI"/>
              </a:rPr>
              <a:t>5 chỉ số môi trường: PM2.5, khí/VOCs, nhiệt độ, độ ẩm, áp suất — hiển thị tại chỗ trên LCD IPS.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3008" y="2514600"/>
            <a:ext cx="2670048" cy="356616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93008" y="2514600"/>
            <a:ext cx="2670048" cy="10972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13048" y="2880360"/>
            <a:ext cx="868680" cy="868680"/>
          </a:xfrm>
          <a:prstGeom prst="ellipse">
            <a:avLst/>
          </a:prstGeom>
          <a:solidFill>
            <a:srgbClr val="1C3352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3048" y="288036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0" i="0">
                <a:solidFill>
                  <a:srgbClr val="A78BFA"/>
                </a:solidFill>
                <a:latin typeface="Segoe UI"/>
              </a:rPr>
              <a:t>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3931920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50" b="1" i="0">
                <a:solidFill>
                  <a:srgbClr val="F1F5F9"/>
                </a:solidFill>
                <a:latin typeface="Segoe UI Semibold"/>
              </a:rPr>
              <a:t>Lọc nhiễu thông minh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4526280"/>
            <a:ext cx="2157984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6A8C0"/>
                </a:solidFill>
                <a:latin typeface="Segoe UI"/>
              </a:rPr>
              <a:t>Bộ lọc Z-Score động + EMA (α=0,2) triệt tiêu gai nhiễu đột biến trước khi vào mô hình AI.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7648" y="2514600"/>
            <a:ext cx="2670048" cy="356616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27648" y="2514600"/>
            <a:ext cx="2670048" cy="1097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47688" y="2880360"/>
            <a:ext cx="868680" cy="868680"/>
          </a:xfrm>
          <a:prstGeom prst="ellipse">
            <a:avLst/>
          </a:prstGeom>
          <a:solidFill>
            <a:srgbClr val="1C3352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47688" y="288036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0" i="0">
                <a:solidFill>
                  <a:srgbClr val="22D3EE"/>
                </a:solidFill>
                <a:latin typeface="Segoe UI"/>
              </a:rPr>
              <a:t>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931920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50" b="1" i="0">
                <a:solidFill>
                  <a:srgbClr val="F1F5F9"/>
                </a:solidFill>
                <a:latin typeface="Segoe UI Semibold"/>
              </a:rPr>
              <a:t>Dự báo bằng Edge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526280"/>
            <a:ext cx="2157984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6A8C0"/>
                </a:solidFill>
                <a:latin typeface="Segoe UI"/>
              </a:rPr>
              <a:t>Mô hình LSTM lượng tử hóa INT8 chạy trên PSRAM, suy luận 216 ms, dự báo PM2.5 1 giờ tới.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62288" y="2514600"/>
            <a:ext cx="2670048" cy="356616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62288" y="2514600"/>
            <a:ext cx="2670048" cy="1097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82328" y="2880360"/>
            <a:ext cx="868680" cy="868680"/>
          </a:xfrm>
          <a:prstGeom prst="ellipse">
            <a:avLst/>
          </a:prstGeom>
          <a:solidFill>
            <a:srgbClr val="1C3352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82328" y="288036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0" i="0">
                <a:solidFill>
                  <a:srgbClr val="2DD4BF"/>
                </a:solidFill>
                <a:latin typeface="Segoe UI"/>
              </a:rPr>
              <a:t>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931920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50" b="1" i="0">
                <a:solidFill>
                  <a:srgbClr val="F1F5F9"/>
                </a:solidFill>
                <a:latin typeface="Segoe UI Semibold"/>
              </a:rPr>
              <a:t>Giám sát từ xa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526280"/>
            <a:ext cx="2157984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6A8C0"/>
                </a:solidFill>
                <a:latin typeface="Segoe UI"/>
              </a:rPr>
              <a:t>Đồng bộ Firebase + Web Dashboard Glassmorphism, theo dõi mọi lúc trên PC &amp; điện thoại.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1664207" cy="38404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664207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01  GIỚI THIỆU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Mục tiêu của đồ án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34D399"/>
                </a:solidFill>
                <a:latin typeface="Segoe UI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860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468880"/>
            <a:ext cx="548640" cy="5486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240487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50" b="1" i="0">
                <a:solidFill>
                  <a:srgbClr val="F1F5F9"/>
                </a:solidFill>
                <a:latin typeface="Segoe UI Semibold"/>
              </a:rPr>
              <a:t>Thiết kế phần cứng trạm đo đa chỉ số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" y="2788920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6A8C0"/>
                </a:solidFill>
                <a:latin typeface="Segoe UI"/>
              </a:rPr>
              <a:t>Đo đồng thời PM2.5 (Sharp GP2Y1014), khí/VOCs (MQ135), nhiệt độ – độ ẩm – áp suất (BME280), hiển thị trực tiếp trên LCD IPS ST7789.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32841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11296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1129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9928" y="344728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50" b="1" i="0">
                <a:solidFill>
                  <a:srgbClr val="F1F5F9"/>
                </a:solidFill>
                <a:latin typeface="Segoe UI Semibold"/>
              </a:rPr>
              <a:t>Lọc nhiễu Z-Score + EMA trên vi điều khiển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9928" y="3831336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6A8C0"/>
                </a:solidFill>
                <a:latin typeface="Segoe UI"/>
              </a:rPr>
              <a:t>Lập trình C++ bộ phát hiện dị thường ngay trên ESP32-S3, triệt tiêu gai nhiễu cục bộ, đảm bảo đầu vào sạch cho AI.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370832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553712"/>
            <a:ext cx="548640" cy="5486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5371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9928" y="4489704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50" b="1" i="0">
                <a:solidFill>
                  <a:srgbClr val="F1F5F9"/>
                </a:solidFill>
                <a:latin typeface="Segoe UI Semibold"/>
              </a:rPr>
              <a:t>Nhúng mô hình LSTM INT8 chạy tại biên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9928" y="4873752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6A8C0"/>
                </a:solidFill>
                <a:latin typeface="Segoe UI"/>
              </a:rPr>
              <a:t>Huấn luyện LSTM trên Python, lượng tử hóa Post-Training INT8, nhúng lên PSRAM qua TensorFlow Lite Micro (&lt; 250 ms/chu kỳ).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41324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5596128"/>
            <a:ext cx="548640" cy="54864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59612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9928" y="55321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50" b="1" i="0">
                <a:solidFill>
                  <a:srgbClr val="F1F5F9"/>
                </a:solidFill>
                <a:latin typeface="Segoe UI Semibold"/>
              </a:rPr>
              <a:t>Xây dựng hệ sinh thái Cloud &amp; Web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9928" y="5916168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6A8C0"/>
                </a:solidFill>
                <a:latin typeface="Segoe UI"/>
              </a:rPr>
              <a:t>Đồng bộ Firebase Realtime Database, giao diện Glassmorphism giám sát từ xa đa thiết bị qua HTTPS.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1664207" cy="38404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664207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01  GIỚI THIỆU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Phạm vi &amp; đối tượng nghiên cứu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34D399"/>
                </a:solidFill>
                <a:latin typeface="Segoe UI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86000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4688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  <a:latin typeface="Segoe UI"/>
              </a:rPr>
              <a:t>✔  Trong phạm 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017520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F1F5F9"/>
                </a:solidFill>
                <a:latin typeface="Segoe UI"/>
              </a:rPr>
              <a:t>Thiết bị đơn lẻ, đặt </a:t>
            </a:r>
            <a:r>
              <a:rPr sz="1350" b="1" i="0">
                <a:solidFill>
                  <a:srgbClr val="34D399"/>
                </a:solidFill>
                <a:latin typeface="Segoe UI"/>
              </a:rPr>
              <a:t>indoor</a:t>
            </a:r>
            <a:r>
              <a:rPr sz="1350" b="0" i="0">
                <a:solidFill>
                  <a:srgbClr val="F1F5F9"/>
                </a:solidFill>
                <a:latin typeface="Segoe UI"/>
              </a:rPr>
              <a:t> (phòng ngủ, văn phòng) hoặc </a:t>
            </a:r>
            <a:r>
              <a:rPr sz="1350" b="1" i="0">
                <a:solidFill>
                  <a:srgbClr val="34D399"/>
                </a:solidFill>
                <a:latin typeface="Segoe UI"/>
              </a:rPr>
              <a:t>bán-outdoor</a:t>
            </a:r>
            <a:r>
              <a:rPr sz="1350" b="0" i="0">
                <a:solidFill>
                  <a:srgbClr val="F1F5F9"/>
                </a:solidFill>
                <a:latin typeface="Segoe UI"/>
              </a:rPr>
              <a:t> (ban công, hành lang).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F1F5F9"/>
                </a:solidFill>
                <a:latin typeface="Segoe UI"/>
              </a:rPr>
              <a:t>Dữ liệu chuỗi thời gian thu thập </a:t>
            </a:r>
            <a:r>
              <a:rPr sz="1350" b="1" i="0">
                <a:solidFill>
                  <a:srgbClr val="34D399"/>
                </a:solidFill>
                <a:latin typeface="Segoe UI"/>
              </a:rPr>
              <a:t>5 giây/mẫu</a:t>
            </a:r>
            <a:r>
              <a:rPr sz="1350" b="0" i="0">
                <a:solidFill>
                  <a:srgbClr val="F1F5F9"/>
                </a:solidFill>
                <a:latin typeface="Segoe U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F1F5F9"/>
                </a:solidFill>
                <a:latin typeface="Segoe UI"/>
              </a:rPr>
              <a:t>LSTM dùng cửa sổ trượt </a:t>
            </a:r>
            <a:r>
              <a:rPr sz="1350" b="1" i="0">
                <a:solidFill>
                  <a:srgbClr val="34D399"/>
                </a:solidFill>
                <a:latin typeface="Segoe UI"/>
              </a:rPr>
              <a:t>24 bước</a:t>
            </a:r>
            <a:r>
              <a:rPr sz="1350" b="0" i="0">
                <a:solidFill>
                  <a:srgbClr val="F1F5F9"/>
                </a:solidFill>
                <a:latin typeface="Segoe UI"/>
              </a:rPr>
              <a:t> để dự báo PM2.5 trong </a:t>
            </a:r>
            <a:r>
              <a:rPr sz="1350" b="1" i="0">
                <a:solidFill>
                  <a:srgbClr val="34D399"/>
                </a:solidFill>
                <a:latin typeface="Segoe UI"/>
              </a:rPr>
              <a:t>1 giờ tới</a:t>
            </a:r>
            <a:r>
              <a:rPr sz="1350" b="0" i="0">
                <a:solidFill>
                  <a:srgbClr val="F1F5F9"/>
                </a:solidFill>
                <a:latin typeface="Segoe U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228600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4688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87171"/>
                </a:solidFill>
                <a:latin typeface="Segoe UI"/>
              </a:rPr>
              <a:t>✘  Ngoài phạm vi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017520"/>
            <a:ext cx="4709160" cy="3017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 i="0">
                <a:solidFill>
                  <a:srgbClr val="F87171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F1F5F9"/>
                </a:solidFill>
                <a:latin typeface="Segoe UI"/>
              </a:rPr>
              <a:t>Chưa xây dựng mạng lưới nhiều trạm quan trắc phân tán.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 i="0">
                <a:solidFill>
                  <a:srgbClr val="F87171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F1F5F9"/>
                </a:solidFill>
                <a:latin typeface="Segoe UI"/>
              </a:rPr>
              <a:t>Chưa phát triển ứng dụng di động native.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 i="0">
                <a:solidFill>
                  <a:srgbClr val="F87171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F1F5F9"/>
                </a:solidFill>
                <a:latin typeface="Segoe UI"/>
              </a:rPr>
              <a:t>Chưa tích hợp pin sạc — dùng nguồn USB/Adapter cố định.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432304" cy="384048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432304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02  THIẾT KẾ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Kiến trúc tổng thể — Mô hình 3 tầng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60A5FA"/>
                </a:solidFill>
                <a:latin typeface="Segoe UI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468880"/>
            <a:ext cx="3401568" cy="356616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468880"/>
            <a:ext cx="3401568" cy="841248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560320"/>
            <a:ext cx="3401568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0B1627"/>
                </a:solidFill>
                <a:latin typeface="Segoe UI"/>
              </a:rPr>
              <a:t>EDGE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926080"/>
            <a:ext cx="340156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 i="1">
                <a:solidFill>
                  <a:srgbClr val="0B1627"/>
                </a:solidFill>
                <a:latin typeface="Segoe UI"/>
              </a:rPr>
              <a:t>Tầng cảm biến &amp; xử lý biên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520440"/>
            <a:ext cx="2852928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ESP32-S3 thu thập 3 cảm biến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Lọc nhiễu Z-Score / EMA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Suy luận AI (TFLite Micro)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Điều khiển cảnh báo + LCD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78224" y="3931920"/>
            <a:ext cx="384048" cy="548640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71416" y="2468880"/>
            <a:ext cx="3401568" cy="356616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71416" y="2468880"/>
            <a:ext cx="3401568" cy="841248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1416" y="2560320"/>
            <a:ext cx="3401568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0B1627"/>
                </a:solidFill>
                <a:latin typeface="Segoe UI"/>
              </a:rPr>
              <a:t>CLOUD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2926080"/>
            <a:ext cx="340156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 i="1">
                <a:solidFill>
                  <a:srgbClr val="0B1627"/>
                </a:solidFill>
                <a:latin typeface="Segoe UI"/>
              </a:rPr>
              <a:t>Tầng đám mây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4024" y="3520440"/>
            <a:ext cx="2852928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FBBF24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Firebase Realtime Database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FBBF24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/sensor &amp; /ai — mỗi 5 giây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FBBF24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/history — mỗi 60 giây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FBBF24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Server Timestamp của Google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91272" y="3931920"/>
            <a:ext cx="384048" cy="548640"/>
          </a:xfrm>
          <a:prstGeom prst="rightArrow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84464" y="2468880"/>
            <a:ext cx="3401568" cy="356616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84464" y="2468880"/>
            <a:ext cx="3401568" cy="841248"/>
          </a:xfrm>
          <a:prstGeom prst="roundRect">
            <a:avLst>
              <a:gd name="adj" fmla="val 8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4" y="2560320"/>
            <a:ext cx="3401568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0B1627"/>
                </a:solidFill>
                <a:latin typeface="Segoe UI"/>
              </a:rPr>
              <a:t>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2926080"/>
            <a:ext cx="340156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 i="1">
                <a:solidFill>
                  <a:srgbClr val="0B1627"/>
                </a:solidFill>
                <a:latin typeface="Segoe UI"/>
              </a:rPr>
              <a:t>Tầng giao diện người dùng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3520440"/>
            <a:ext cx="2852928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Web Dashboard HTML/CSS/JS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Firebase Hosting + CDN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Truy cập đa thiết bị (HTTPS)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Glassmorphism + Chart.js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432304" cy="384048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432304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02  THIẾT KẾ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Danh mục phần cứng (Bill of Materials)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60A5FA"/>
                </a:solidFill>
                <a:latin typeface="Segoe UI"/>
              </a:rPr>
              <a:t>08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2331720"/>
          <a:ext cx="1088136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4206240"/>
                <a:gridCol w="38404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627"/>
                          </a:solidFill>
                          <a:latin typeface="Segoe UI"/>
                        </a:rPr>
                        <a:t>Linh kiện</a:t>
                      </a:r>
                    </a:p>
                  </a:txBody>
                  <a:tcPr marL="91440" marR="73152" marT="36576" marB="36576" anchor="ctr">
                    <a:solidFill>
                      <a:srgbClr val="60A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627"/>
                          </a:solidFill>
                          <a:latin typeface="Segoe UI"/>
                        </a:rPr>
                        <a:t>Thông số kỹ thuật</a:t>
                      </a:r>
                    </a:p>
                  </a:txBody>
                  <a:tcPr marL="91440" marR="73152" marT="36576" marB="36576" anchor="ctr">
                    <a:solidFill>
                      <a:srgbClr val="60A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627"/>
                          </a:solidFill>
                          <a:latin typeface="Segoe UI"/>
                        </a:rPr>
                        <a:t>Vai trò trong hệ thống</a:t>
                      </a:r>
                    </a:p>
                  </a:txBody>
                  <a:tcPr marL="91440" marR="73152" marT="36576" marB="36576" anchor="ctr">
                    <a:solidFill>
                      <a:srgbClr val="60A5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1F5F9"/>
                          </a:solidFill>
                          <a:latin typeface="Segoe UI"/>
                        </a:rPr>
                        <a:t>ESP32-S3-WROOM-1 (N16R8)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6A8C0"/>
                          </a:solidFill>
                          <a:latin typeface="Segoe UI"/>
                        </a:rPr>
                        <a:t>Dual-core LX7 240 MHz; 16 MB Flash; 8 MB PSRAM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6A8C0"/>
                          </a:solidFill>
                          <a:latin typeface="Segoe UI"/>
                        </a:rPr>
                        <a:t>Nhân xử lý: lọc nhiễu, chạy AI, điều khiển, WiFi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1F5F9"/>
                          </a:solidFill>
                          <a:latin typeface="Segoe UI"/>
                        </a:rPr>
                        <a:t>Sharp GP2Y1014AU0F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6A8C0"/>
                          </a:solidFill>
                          <a:latin typeface="Segoe UI"/>
                        </a:rPr>
                        <a:t>Cảm biến bụi quang IR; ngõ ra Analog; 5 V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6A8C0"/>
                          </a:solidFill>
                          <a:latin typeface="Segoe UI"/>
                        </a:rPr>
                        <a:t>Đo nồng độ PM2.5 sơ bộ (tương đối)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1F5F9"/>
                          </a:solidFill>
                          <a:latin typeface="Segoe UI"/>
                        </a:rPr>
                        <a:t>MQ135 Gas Sensor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6A8C0"/>
                          </a:solidFill>
                          <a:latin typeface="Segoe UI"/>
                        </a:rPr>
                        <a:t>Cảm biến bán dẫn; NH₃/NOx/CO₂/Benzen; ~150 mA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6A8C0"/>
                          </a:solidFill>
                          <a:latin typeface="Segoe UI"/>
                        </a:rPr>
                        <a:t>Đo khí độc hại &amp; VOCs, cảnh báo ô nhiễm khí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1F5F9"/>
                          </a:solidFill>
                          <a:latin typeface="Segoe UI"/>
                        </a:rPr>
                        <a:t>ST7789 IPS LCD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6A8C0"/>
                          </a:solidFill>
                          <a:latin typeface="Segoe UI"/>
                        </a:rPr>
                        <a:t>1,54"; 240×240 px; giao tiếp SPI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6A8C0"/>
                          </a:solidFill>
                          <a:latin typeface="Segoe UI"/>
                        </a:rPr>
                        <a:t>Hiển thị Dashboard tại chỗ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1F5F9"/>
                          </a:solidFill>
                          <a:latin typeface="Segoe UI"/>
                        </a:rPr>
                        <a:t>Buzzer + LED đỏ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6A8C0"/>
                          </a:solidFill>
                          <a:latin typeface="Segoe UI"/>
                        </a:rPr>
                        <a:t>Còi active 5 V (~2,3 kHz); LED 5 mm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6A8C0"/>
                          </a:solidFill>
                          <a:latin typeface="Segoe UI"/>
                        </a:rPr>
                        <a:t>Cảnh báo âm thanh &amp; ánh sáng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1F5F9"/>
                          </a:solidFill>
                          <a:latin typeface="Segoe UI"/>
                        </a:rPr>
                        <a:t>MB102 Power Module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6A8C0"/>
                          </a:solidFill>
                          <a:latin typeface="Segoe UI"/>
                        </a:rPr>
                        <a:t>5 V / 3,3 V; tối đa 700 mA; DC Barrel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6A8C0"/>
                          </a:solidFill>
                          <a:latin typeface="Segoe UI"/>
                        </a:rPr>
                        <a:t>Cấp nguồn ổn định, chống sụt áp (brown-out)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432304" cy="384048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432304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02  THIẾT KẾ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Sơ đồ đấu nối GPIO &amp; mạch bảo vệ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60A5FA"/>
                </a:solidFill>
                <a:latin typeface="Segoe UI"/>
              </a:rPr>
              <a:t>09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2286000"/>
          <a:ext cx="6903720" cy="3886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2331720"/>
                <a:gridCol w="1508760"/>
                <a:gridCol w="1280160"/>
              </a:tblGrid>
              <a:tr h="48577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1627"/>
                          </a:solidFill>
                          <a:latin typeface="Segoe UI"/>
                        </a:rPr>
                        <a:t>Ngoại vi</a:t>
                      </a:r>
                    </a:p>
                  </a:txBody>
                  <a:tcPr marL="91440" marR="73152" marT="36576" marB="36576" anchor="ctr">
                    <a:solidFill>
                      <a:srgbClr val="60A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1627"/>
                          </a:solidFill>
                          <a:latin typeface="Segoe UI"/>
                        </a:rPr>
                        <a:t>Tín hiệu</a:t>
                      </a:r>
                    </a:p>
                  </a:txBody>
                  <a:tcPr marL="91440" marR="73152" marT="36576" marB="36576" anchor="ctr">
                    <a:solidFill>
                      <a:srgbClr val="60A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1627"/>
                          </a:solidFill>
                          <a:latin typeface="Segoe UI"/>
                        </a:rPr>
                        <a:t>GPIO</a:t>
                      </a:r>
                    </a:p>
                  </a:txBody>
                  <a:tcPr marL="91440" marR="73152" marT="36576" marB="36576" anchor="ctr">
                    <a:solidFill>
                      <a:srgbClr val="60A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1627"/>
                          </a:solidFill>
                          <a:latin typeface="Segoe UI"/>
                        </a:rPr>
                        <a:t>Giao thức</a:t>
                      </a:r>
                    </a:p>
                  </a:txBody>
                  <a:tcPr marL="91440" marR="73152" marT="36576" marB="36576" anchor="ctr">
                    <a:solidFill>
                      <a:srgbClr val="60A5FA"/>
                    </a:solidFill>
                  </a:tcPr>
                </a:tc>
              </a:tr>
              <a:tr h="48577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BME280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SDA / SCL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8 / 9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I2C Master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</a:tr>
              <a:tr h="48577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Sharp GP2Y1014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Vo / LED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4 / 5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ADC1 / Xung 10 ms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</a:tr>
              <a:tr h="48577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MQ135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AO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ADC1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</a:tr>
              <a:tr h="48577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ST7789 LCD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MOSI/SCLK/CS/DC/RST/BLK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11/12/10/13/14/15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SPI HW + PWM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</a:tr>
              <a:tr h="48577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Buzzer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Tín hiệu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PWM tone()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</a:tr>
              <a:tr h="48577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LED cảnh báo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Dương cực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Digital Output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</a:tr>
              <a:tr h="48577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Nút BOOT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Reset WiFi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96A8C0"/>
                          </a:solidFill>
                          <a:latin typeface="Segoe UI"/>
                        </a:rPr>
                        <a:t>Input Pull-up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72400" y="2286000"/>
            <a:ext cx="3767328" cy="388620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48716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50" b="1" i="0">
                <a:solidFill>
                  <a:srgbClr val="FBBF24"/>
                </a:solidFill>
                <a:latin typeface="Segoe UI"/>
              </a:rPr>
              <a:t>🔧  Mạch lọc RC thông thấp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97180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6A8C0"/>
                </a:solidFill>
                <a:latin typeface="Segoe UI"/>
              </a:rPr>
              <a:t>Bảo vệ cảm biến bụi Sharp khỏi gai điện áp khi LED IR nháy xung.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840480"/>
            <a:ext cx="3246120" cy="868680"/>
          </a:xfrm>
          <a:prstGeom prst="roundRect">
            <a:avLst>
              <a:gd name="adj" fmla="val 10000"/>
            </a:avLst>
          </a:prstGeom>
          <a:solidFill>
            <a:srgbClr val="1C3352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1F5F9"/>
                </a:solidFill>
                <a:latin typeface="Segoe UI"/>
              </a:rPr>
              <a:t>τ = R · C</a:t>
            </a:r>
          </a:p>
          <a:p>
            <a:pPr algn="ctr"/>
            <a:r>
              <a:rPr sz="1250" b="0" i="0">
                <a:solidFill>
                  <a:srgbClr val="96A8C0"/>
                </a:solidFill>
                <a:latin typeface="Segoe UI"/>
              </a:rPr>
              <a:t>= 150 Ω × 220 µF = </a:t>
            </a:r>
            <a:r>
              <a:rPr sz="1350" b="1" i="0">
                <a:solidFill>
                  <a:srgbClr val="FBBF24"/>
                </a:solidFill>
                <a:latin typeface="Segoe UI"/>
              </a:rPr>
              <a:t>33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89204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▸  </a:t>
            </a:r>
            <a:r>
              <a:rPr sz="1150" b="0" i="0">
                <a:solidFill>
                  <a:srgbClr val="F1F5F9"/>
                </a:solidFill>
                <a:latin typeface="Segoe UI"/>
              </a:rPr>
              <a:t>Lọc nhiễu cao tần &gt; 30 Hz trên đường nguồn.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▸  </a:t>
            </a:r>
            <a:r>
              <a:rPr sz="1150" b="0" i="0">
                <a:solidFill>
                  <a:srgbClr val="F1F5F9"/>
                </a:solidFill>
                <a:latin typeface="Segoe UI"/>
              </a:rPr>
              <a:t>Nguồn MB102 riêng cho MQ135 + Sharp, chung GND.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212848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03  CƠ SỞ LÝ THUYẾT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Pipeline xử lý dữ liệu — 3 tầng tích hợp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1">
                <a:solidFill>
                  <a:srgbClr val="96A8C0"/>
                </a:solidFill>
                <a:latin typeface="Segoe UI"/>
              </a:rPr>
              <a:t>Đóng góp kỹ thuật cốt lõi: dữ liệu thô được làm sạch, dự báo và đồng bộ liền mạch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A78BFA"/>
                </a:solidFill>
                <a:latin typeface="Segoe UI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26080"/>
            <a:ext cx="2487168" cy="246888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246120"/>
            <a:ext cx="248716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000" b="0" i="0">
                <a:solidFill>
                  <a:srgbClr val="60A5FA"/>
                </a:solidFill>
                <a:latin typeface="Segoe UI"/>
              </a:rPr>
              <a:t>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977640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b="1" i="0">
                <a:solidFill>
                  <a:srgbClr val="F1F5F9"/>
                </a:solidFill>
                <a:latin typeface="Segoe UI Semibold"/>
              </a:rPr>
              <a:t>Dữ liệu thô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80560"/>
            <a:ext cx="248716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6A8C0"/>
                </a:solidFill>
                <a:latin typeface="Segoe UI"/>
              </a:rPr>
              <a:t>3 cảm biến
5 giây/mẫu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91256" y="3886200"/>
            <a:ext cx="365760" cy="502920"/>
          </a:xfrm>
          <a:prstGeom prst="rightArrow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02736" y="2926080"/>
            <a:ext cx="2487168" cy="246888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2736" y="3246120"/>
            <a:ext cx="248716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000" b="0" i="0">
                <a:solidFill>
                  <a:srgbClr val="A78BFA"/>
                </a:solidFill>
                <a:latin typeface="Segoe UI"/>
              </a:rPr>
              <a:t>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3977640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b="1" i="0">
                <a:solidFill>
                  <a:srgbClr val="F1F5F9"/>
                </a:solidFill>
                <a:latin typeface="Segoe UI Semibold"/>
              </a:rPr>
              <a:t>Lọc dị thường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4480560"/>
            <a:ext cx="248716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6A8C0"/>
                </a:solidFill>
                <a:latin typeface="Segoe UI"/>
              </a:rPr>
              <a:t>Z-Score + EMA
chặn gai nhiễu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135624" y="3886200"/>
            <a:ext cx="365760" cy="502920"/>
          </a:xfrm>
          <a:prstGeom prst="rightArrow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47104" y="2926080"/>
            <a:ext cx="2487168" cy="246888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3246120"/>
            <a:ext cx="248716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000" b="0" i="0">
                <a:solidFill>
                  <a:srgbClr val="22D3EE"/>
                </a:solidFill>
                <a:latin typeface="Segoe UI"/>
              </a:rPr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977640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b="1" i="0">
                <a:solidFill>
                  <a:srgbClr val="F1F5F9"/>
                </a:solidFill>
                <a:latin typeface="Segoe UI Semibold"/>
              </a:rPr>
              <a:t>Chuẩn hóa +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480560"/>
            <a:ext cx="248716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6A8C0"/>
                </a:solidFill>
                <a:latin typeface="Segoe UI"/>
              </a:rPr>
              <a:t>MinMaxScaler →
LSTM INT8 (216 ms)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79992" y="3886200"/>
            <a:ext cx="365760" cy="502920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91472" y="2926080"/>
            <a:ext cx="2487168" cy="246888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91472" y="3246120"/>
            <a:ext cx="248716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000" b="0" i="0">
                <a:solidFill>
                  <a:srgbClr val="34D399"/>
                </a:solidFill>
                <a:latin typeface="Segoe UI"/>
              </a:rPr>
              <a:t>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1472" y="3977640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b="1" i="0">
                <a:solidFill>
                  <a:srgbClr val="F1F5F9"/>
                </a:solidFill>
                <a:latin typeface="Segoe UI Semibold"/>
              </a:rPr>
              <a:t>Cảnh báo + Cloud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91472" y="4480560"/>
            <a:ext cx="248716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6A8C0"/>
                </a:solidFill>
                <a:latin typeface="Segoe UI"/>
              </a:rPr>
              <a:t>Buzzer/LED +
Firebase sync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669280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1C3352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66928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0" i="1">
                <a:solidFill>
                  <a:srgbClr val="F1F5F9"/>
                </a:solidFill>
                <a:latin typeface="Segoe UI"/>
              </a:rPr>
              <a:t>Tất cả xử lý diễn ra ngay trên ESP32-S3 — thiết bị vẫn cảnh báo kể cả khi mất hoàn toàn kết nối Internet.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212848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03  CƠ SỞ LÝ THUYẾT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Chuẩn hóa dữ liệu (MinMaxScaler)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A78BFA"/>
                </a:solidFill>
                <a:latin typeface="Segoe UI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86000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4688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1F5F9"/>
                </a:solidFill>
                <a:latin typeface="Segoe UI"/>
              </a:rPr>
              <a:t>LSTM rất nhạy với biên độ đầu vào. Mọi đặc trưng được đưa về dải [0, 1] thống nhất: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3337560"/>
            <a:ext cx="4937760" cy="868680"/>
          </a:xfrm>
          <a:prstGeom prst="roundRect">
            <a:avLst>
              <a:gd name="adj" fmla="val 10000"/>
            </a:avLst>
          </a:prstGeom>
          <a:solidFill>
            <a:srgbClr val="1C3352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33756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F1F5F9"/>
                </a:solidFill>
                <a:latin typeface="Segoe UI"/>
              </a:rPr>
              <a:t>x_scaled = (x − x_min) / (x_max − x_min)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434840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A78BFA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Hằng số x_min/x_max </a:t>
            </a:r>
            <a:r>
              <a:rPr sz="1250" b="1" i="0">
                <a:solidFill>
                  <a:srgbClr val="FBBF24"/>
                </a:solidFill>
                <a:latin typeface="Segoe UI"/>
              </a:rPr>
              <a:t>đồng bộ tuyệt đối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 giữa Python và firmware C++.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A78BFA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Hàm scaleData() có </a:t>
            </a:r>
            <a:r>
              <a:rPr sz="1250" b="1" i="0">
                <a:solidFill>
                  <a:srgbClr val="FBBF24"/>
                </a:solidFill>
                <a:latin typeface="Segoe UI"/>
              </a:rPr>
              <a:t>clamping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 xử lý giá trị NaN từ cảm biến lỗi.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A78BFA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Inverse Scale phục hồi kết quả về µg/m³ sau suy luận.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355080" y="2606040"/>
          <a:ext cx="516636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1051560"/>
                <a:gridCol w="1051560"/>
                <a:gridCol w="7315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627"/>
                          </a:solidFill>
                          <a:latin typeface="Segoe UI"/>
                        </a:rPr>
                        <a:t>Đặc trưng</a:t>
                      </a:r>
                    </a:p>
                  </a:txBody>
                  <a:tcPr marL="91440" marR="73152" marT="36576" marB="36576" anchor="ctr">
                    <a:solidFill>
                      <a:srgbClr val="A78B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627"/>
                          </a:solidFill>
                          <a:latin typeface="Segoe UI"/>
                        </a:rPr>
                        <a:t>x_min</a:t>
                      </a:r>
                    </a:p>
                  </a:txBody>
                  <a:tcPr marL="91440" marR="73152" marT="36576" marB="36576" anchor="ctr">
                    <a:solidFill>
                      <a:srgbClr val="A78B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627"/>
                          </a:solidFill>
                          <a:latin typeface="Segoe UI"/>
                        </a:rPr>
                        <a:t>x_max</a:t>
                      </a:r>
                    </a:p>
                  </a:txBody>
                  <a:tcPr marL="91440" marR="73152" marT="36576" marB="36576" anchor="ctr">
                    <a:solidFill>
                      <a:srgbClr val="A78B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627"/>
                          </a:solidFill>
                          <a:latin typeface="Segoe UI"/>
                        </a:rPr>
                        <a:t>Đơn vị</a:t>
                      </a:r>
                    </a:p>
                  </a:txBody>
                  <a:tcPr marL="91440" marR="73152" marT="36576" marB="36576" anchor="ctr">
                    <a:solidFill>
                      <a:srgbClr val="A78B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1F5F9"/>
                          </a:solidFill>
                          <a:latin typeface="Segoe UI"/>
                        </a:rPr>
                        <a:t>PM2.5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0,0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1000,0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µg/m³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1F5F9"/>
                          </a:solidFill>
                          <a:latin typeface="Segoe UI"/>
                        </a:rPr>
                        <a:t>Độ ẩm / Điểm sương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−40,0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30,0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% RH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1F5F9"/>
                          </a:solidFill>
                          <a:latin typeface="Segoe UI"/>
                        </a:rPr>
                        <a:t>Nhiệt độ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−20,0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45,0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°C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1F5F9"/>
                          </a:solidFill>
                          <a:latin typeface="Segoe UI"/>
                        </a:rPr>
                        <a:t>Áp suất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990,0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1050,0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hPa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355080" y="5440680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96A8C0"/>
                </a:solidFill>
                <a:latin typeface="Segoe UI"/>
              </a:rPr>
              <a:t>Khớp chính xác mảng FEATURE_MIN[] / FEATURE_MAX[] trong main.cpp.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212848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03  CƠ SỞ LÝ THUYẾT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Lọc dị thường: Z-Score động + 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1">
                <a:solidFill>
                  <a:srgbClr val="96A8C0"/>
                </a:solidFill>
                <a:latin typeface="Segoe UI"/>
              </a:rPr>
              <a:t>Triệt tiêu gai nhiễu đột biến từ cảm biến quang trước khi đưa vào LSTM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A78BFA"/>
                </a:solidFill>
                <a:latin typeface="Segoe UI"/>
              </a:rP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514600"/>
            <a:ext cx="5349240" cy="370332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7004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Segoe UI"/>
              </a:rPr>
              <a:t>Đường cơ sở thích nghi (EMA, α = 0,2)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108960"/>
            <a:ext cx="4846320" cy="713232"/>
          </a:xfrm>
          <a:prstGeom prst="roundRect">
            <a:avLst>
              <a:gd name="adj" fmla="val 12000"/>
            </a:avLst>
          </a:prstGeom>
          <a:solidFill>
            <a:srgbClr val="1C3352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1638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A78BFA"/>
                </a:solidFill>
                <a:latin typeface="Segoe UI"/>
              </a:rPr>
              <a:t>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1985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Segoe UI"/>
              </a:rPr>
              <a:t>EMAₜ = α·xₜ + (1−α)·EMAₜ₋₁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50208"/>
            <a:ext cx="4846320" cy="713232"/>
          </a:xfrm>
          <a:prstGeom prst="roundRect">
            <a:avLst>
              <a:gd name="adj" fmla="val 12000"/>
            </a:avLst>
          </a:prstGeom>
          <a:solidFill>
            <a:srgbClr val="1C3352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0050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A78BFA"/>
                </a:solidFill>
                <a:latin typeface="Segoe UI"/>
              </a:rPr>
              <a:t>Phương sai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26110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Segoe UI"/>
              </a:rPr>
              <a:t>Varₜ = α·(xₜ−EMAₜ₋₁)² + (1−α)·Varₜ₋₁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791456"/>
            <a:ext cx="4846320" cy="713232"/>
          </a:xfrm>
          <a:prstGeom prst="roundRect">
            <a:avLst>
              <a:gd name="adj" fmla="val 12000"/>
            </a:avLst>
          </a:prstGeom>
          <a:solidFill>
            <a:srgbClr val="1C3352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846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A78BFA"/>
                </a:solidFill>
                <a:latin typeface="Segoe UI"/>
              </a:rPr>
              <a:t>Z-Score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10235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Segoe UI"/>
              </a:rPr>
              <a:t>Zₜ = |xₜ − EMAₜ₋₁| / max(σₜ, 10)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14600"/>
            <a:ext cx="5321808" cy="370332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67004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Segoe UI"/>
              </a:rPr>
              <a:t>Quy tắc phán định 3σ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108960"/>
            <a:ext cx="4754880" cy="1325880"/>
          </a:xfrm>
          <a:prstGeom prst="roundRect">
            <a:avLst>
              <a:gd name="adj" fmla="val 8000"/>
            </a:avLst>
          </a:prstGeom>
          <a:solidFill>
            <a:srgbClr val="1C335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218688"/>
            <a:ext cx="448056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34D399"/>
                </a:solidFill>
                <a:latin typeface="Segoe UI"/>
              </a:rPr>
              <a:t>Z ≤ 3,0  →  Bình thường ✔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1F5F9"/>
                </a:solidFill>
                <a:latin typeface="Segoe UI"/>
              </a:rPr>
              <a:t>Mẫu đi qua, cập nhật EMA &amp; Var. Bao phủ 99,7% dữ liệu hợp lệ.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4572000"/>
            <a:ext cx="4754880" cy="1463040"/>
          </a:xfrm>
          <a:prstGeom prst="roundRect">
            <a:avLst>
              <a:gd name="adj" fmla="val 8000"/>
            </a:avLst>
          </a:prstGeom>
          <a:solidFill>
            <a:srgbClr val="1C3352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681728"/>
            <a:ext cx="44805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87171"/>
                </a:solidFill>
                <a:latin typeface="Segoe UI"/>
              </a:rPr>
              <a:t>Z &gt; 3,0  →  Gai nhiễu ✘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1F5F9"/>
                </a:solidFill>
                <a:latin typeface="Segoe UI"/>
              </a:rPr>
              <a:t>Giá trị thô bị chặn, thay bằng EMAₜ₋₁. EMA &amp; Var giữ nguyên để bảo toàn đường cơ sở (xác suất sai &lt; 0,3%).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212848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03  CƠ SỞ LÝ THUYẾT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Mạng nơ-ron hồi quy LSTM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A78BFA"/>
                </a:solidFill>
                <a:latin typeface="Segoe UI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86000"/>
            <a:ext cx="5029200" cy="393192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Segoe UI"/>
              </a:rPr>
              <a:t>Vì sao chọn LSTM?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4572000" cy="3108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300" b="0" i="0">
                <a:solidFill>
                  <a:srgbClr val="F1F5F9"/>
                </a:solidFill>
                <a:latin typeface="Segoe UI"/>
              </a:rPr>
              <a:t>Dự báo PM2.5 là bài toán </a:t>
            </a:r>
            <a:r>
              <a:rPr sz="1300" b="1" i="0">
                <a:solidFill>
                  <a:srgbClr val="22D3EE"/>
                </a:solidFill>
                <a:latin typeface="Segoe UI"/>
              </a:rPr>
              <a:t>chuỗi thời gian</a:t>
            </a:r>
            <a:r>
              <a:rPr sz="1300" b="0" i="0">
                <a:solidFill>
                  <a:srgbClr val="F1F5F9"/>
                </a:solidFill>
                <a:latin typeface="Segoe UI"/>
              </a:rPr>
              <a:t> — giá trị tương lai phụ thuộc lịch sử quá khứ.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300" b="0" i="0">
                <a:solidFill>
                  <a:srgbClr val="F1F5F9"/>
                </a:solidFill>
                <a:latin typeface="Segoe UI"/>
              </a:rPr>
              <a:t>Mạng truyền thẳng không có bộ nhớ; RNN cơ bản bị </a:t>
            </a:r>
            <a:r>
              <a:rPr sz="1300" b="1" i="0">
                <a:solidFill>
                  <a:srgbClr val="FBBF24"/>
                </a:solidFill>
                <a:latin typeface="Segoe UI"/>
              </a:rPr>
              <a:t>tiêu biến đạo hàm</a:t>
            </a:r>
            <a:r>
              <a:rPr sz="1300" b="0" i="0">
                <a:solidFill>
                  <a:srgbClr val="F1F5F9"/>
                </a:solidFill>
                <a:latin typeface="Segoe U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300" b="0" i="0">
                <a:solidFill>
                  <a:srgbClr val="F1F5F9"/>
                </a:solidFill>
                <a:latin typeface="Segoe UI"/>
              </a:rPr>
              <a:t>LSTM (Hochreiter &amp; Schmidhuber, 1997) dùng </a:t>
            </a:r>
            <a:r>
              <a:rPr sz="1300" b="1" i="0">
                <a:solidFill>
                  <a:srgbClr val="34D399"/>
                </a:solidFill>
                <a:latin typeface="Segoe UI"/>
              </a:rPr>
              <a:t>Cell State</a:t>
            </a:r>
            <a:r>
              <a:rPr sz="1300" b="0" i="0">
                <a:solidFill>
                  <a:srgbClr val="F1F5F9"/>
                </a:solidFill>
                <a:latin typeface="Segoe UI"/>
              </a:rPr>
              <a:t> — đường truyền gradient xuyên thời gian, học được phụ thuộc dài hạn.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286000"/>
            <a:ext cx="5669280" cy="393192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  <a:latin typeface="Segoe UI"/>
              </a:rPr>
              <a:t>Ba cổng kiểm soát thông tin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971800"/>
            <a:ext cx="5120640" cy="896112"/>
          </a:xfrm>
          <a:prstGeom prst="roundRect">
            <a:avLst>
              <a:gd name="adj" fmla="val 8000"/>
            </a:avLst>
          </a:prstGeom>
          <a:solidFill>
            <a:srgbClr val="1C3352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2971800"/>
            <a:ext cx="91440" cy="896112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063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 i="0">
                <a:solidFill>
                  <a:srgbClr val="F87171"/>
                </a:solidFill>
                <a:latin typeface="Segoe UI"/>
              </a:rPr>
              <a:t>Cổng Quên (fₜ)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410712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1F5F9"/>
                </a:solidFill>
                <a:latin typeface="Segoe UI"/>
              </a:rPr>
              <a:t>Quyết định thông tin dài hạn nào trong Cell State cũ cần xóa.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995928"/>
            <a:ext cx="5120640" cy="896112"/>
          </a:xfrm>
          <a:prstGeom prst="roundRect">
            <a:avLst>
              <a:gd name="adj" fmla="val 8000"/>
            </a:avLst>
          </a:prstGeom>
          <a:solidFill>
            <a:srgbClr val="1C335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3995928"/>
            <a:ext cx="91440" cy="89611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0873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 i="0">
                <a:solidFill>
                  <a:srgbClr val="34D399"/>
                </a:solidFill>
                <a:latin typeface="Segoe UI"/>
              </a:rPr>
              <a:t>Cổng Vào (iₜ)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43484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1F5F9"/>
                </a:solidFill>
                <a:latin typeface="Segoe UI"/>
              </a:rPr>
              <a:t>Xác định thông tin mới từ đầu vào sẽ được ghi vào ô nhớ.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5020056"/>
            <a:ext cx="5120640" cy="896112"/>
          </a:xfrm>
          <a:prstGeom prst="roundRect">
            <a:avLst>
              <a:gd name="adj" fmla="val 8000"/>
            </a:avLst>
          </a:prstGeom>
          <a:solidFill>
            <a:srgbClr val="1C335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26480" y="5020056"/>
            <a:ext cx="91440" cy="89611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511149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 i="0">
                <a:solidFill>
                  <a:srgbClr val="60A5FA"/>
                </a:solidFill>
                <a:latin typeface="Segoe UI"/>
              </a:rPr>
              <a:t>Cổng Ra (oₜ)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458968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1F5F9"/>
                </a:solidFill>
                <a:latin typeface="Segoe UI"/>
              </a:rPr>
              <a:t>Quyết định phần nào của ô nhớ xuất ra trạng thái ẩn hₜ.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212848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03  CƠ SỞ LÝ THUYẾT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Cấu trúc mô hình LSTM nhúng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A78BFA"/>
                </a:solidFill>
                <a:latin typeface="Segoe UI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14600"/>
            <a:ext cx="3401568" cy="260604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743200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 i="0">
                <a:solidFill>
                  <a:srgbClr val="60A5FA"/>
                </a:solidFill>
                <a:latin typeface="Segoe UI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200400"/>
            <a:ext cx="340156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b="1" i="0">
                <a:solidFill>
                  <a:srgbClr val="F1F5F9"/>
                </a:solidFill>
                <a:latin typeface="Segoe UI Semibold"/>
              </a:rPr>
              <a:t>[1, 24, 4]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023360"/>
            <a:ext cx="294436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6A8C0"/>
                </a:solidFill>
                <a:latin typeface="Segoe UI"/>
              </a:rPr>
              <a:t>24 bước thời gian × 4 đặc trưng
(PM2.5, Độ ẩm, Nhiệt độ, Áp suất)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78224" y="3566160"/>
            <a:ext cx="384048" cy="502920"/>
          </a:xfrm>
          <a:prstGeom prst="rightArrow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71416" y="2514600"/>
            <a:ext cx="3401568" cy="260604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2743200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 i="0">
                <a:solidFill>
                  <a:srgbClr val="A78BFA"/>
                </a:solidFill>
                <a:latin typeface="Segoe UI"/>
              </a:rPr>
              <a:t>LSTM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3200400"/>
            <a:ext cx="340156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b="1" i="0">
                <a:solidFill>
                  <a:srgbClr val="F1F5F9"/>
                </a:solidFill>
                <a:latin typeface="Segoe UI Semibold"/>
              </a:rPr>
              <a:t>32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4023360"/>
            <a:ext cx="294436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6A8C0"/>
                </a:solidFill>
                <a:latin typeface="Segoe UI"/>
              </a:rPr>
              <a:t>4 cổng × 1152 trọng số = 4608
+ 128 biases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91272" y="3566160"/>
            <a:ext cx="384048" cy="502920"/>
          </a:xfrm>
          <a:prstGeom prst="rightArrow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84464" y="2514600"/>
            <a:ext cx="3401568" cy="260604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4" y="2743200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 i="0">
                <a:solidFill>
                  <a:srgbClr val="34D399"/>
                </a:solidFill>
                <a:latin typeface="Segoe UI"/>
              </a:rPr>
              <a:t>DENSE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200400"/>
            <a:ext cx="340156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b="1" i="0">
                <a:solidFill>
                  <a:srgbClr val="F1F5F9"/>
                </a:solidFill>
                <a:latin typeface="Segoe UI Semibold"/>
              </a:rPr>
              <a:t>1 neuron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3064" y="4023360"/>
            <a:ext cx="294436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6A8C0"/>
                </a:solidFill>
                <a:latin typeface="Segoe UI"/>
              </a:rPr>
              <a:t>y_scaled ∈ [0,1]
→ Inverse Scale → µg/m³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44068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1C3352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440680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Bộ đệm vòng  </a:t>
            </a:r>
            <a:r>
              <a:rPr sz="1300" b="1" i="0">
                <a:solidFill>
                  <a:srgbClr val="22D3EE"/>
                </a:solidFill>
                <a:latin typeface="Segoe UI"/>
              </a:rPr>
              <a:t>int8_t input_buffer[24][4]</a:t>
            </a:r>
            <a:r>
              <a:rPr sz="1300" b="0" i="0">
                <a:solidFill>
                  <a:srgbClr val="F1F5F9"/>
                </a:solidFill>
                <a:latin typeface="Segoe UI"/>
              </a:rPr>
              <a:t>  — mỗi chu kỳ 5 s dịch trái 1 bước, ghi mẫu mới nhất vào input_buffer[23] (mô phỏng cửa sổ trượt).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212848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03  CƠ SỞ LÝ THUYẾT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Lượng tử hóa INT8 (Post-Training Quantization)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A78BFA"/>
                </a:solidFill>
                <a:latin typeface="Segoe UI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86000"/>
            <a:ext cx="5349240" cy="393192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F5F9"/>
                </a:solidFill>
                <a:latin typeface="Segoe UI"/>
              </a:rPr>
              <a:t>ESP32-S3 không có FPU vector, RAM nội bộ chỉ 320 KB → bắt buộc nén mô hình từ Float32 (4 byte) về INT8 (1 byte):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429000"/>
            <a:ext cx="4846320" cy="777240"/>
          </a:xfrm>
          <a:prstGeom prst="roundRect">
            <a:avLst>
              <a:gd name="adj" fmla="val 10000"/>
            </a:avLst>
          </a:prstGeom>
          <a:solidFill>
            <a:srgbClr val="1C3352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50" b="1" i="0">
                <a:solidFill>
                  <a:srgbClr val="F1F5F9"/>
                </a:solidFill>
                <a:latin typeface="Segoe UI"/>
              </a:rPr>
              <a:t>q = clamp(round(r/S) + Z, −128, 127)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22D3EE"/>
                </a:solidFill>
                <a:latin typeface="Segoe UI"/>
              </a:rPr>
              <a:t>S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 = hệ số tỷ lệ (Scale),  </a:t>
            </a:r>
            <a:r>
              <a:rPr sz="1250" b="1" i="0">
                <a:solidFill>
                  <a:srgbClr val="22D3EE"/>
                </a:solidFill>
                <a:latin typeface="Segoe UI"/>
              </a:rPr>
              <a:t>Z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 = điểm không (Zero-point), xác định trên mỗi layer từ tập hiệu chỉnh.</a:t>
            </a:r>
          </a:p>
          <a:p>
            <a:pPr algn="l"/>
            <a:r>
              <a:rPr sz="1250" b="0" i="1">
                <a:solidFill>
                  <a:srgbClr val="96A8C0"/>
                </a:solidFill>
                <a:latin typeface="Segoe UI"/>
              </a:rPr>
              <a:t>Giải lượng tử hóa khi suy luận:  r ≈ S·(q − Z)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28600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2596896"/>
            <a:ext cx="548640" cy="5486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59689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450592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Segoe UI Semibold"/>
              </a:rPr>
              <a:t>Giảm bộ nhớ 4×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85292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6A8C0"/>
                </a:solidFill>
                <a:latin typeface="Segoe UI"/>
              </a:rPr>
              <a:t>File .tflite từ vài MB → ≈ 40 KB nhúng thẳng vào Flash.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21024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0" y="3931920"/>
            <a:ext cx="548640" cy="5486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31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785616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Segoe UI Semibold"/>
              </a:rPr>
              <a:t>Tăng tốc tính toán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18795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6A8C0"/>
                </a:solidFill>
                <a:latin typeface="Segoe UI"/>
              </a:rPr>
              <a:t>Nhân ma trận số nguyên nhanh hơn → suy luận chỉ 216 ms.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956048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0" y="5266944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26694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512064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Segoe UI Semibold"/>
              </a:rPr>
              <a:t>Tiết kiệm năng lượng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5522976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6A8C0"/>
                </a:solidFill>
                <a:latin typeface="Segoe UI"/>
              </a:rPr>
              <a:t>Phép tính INT tiêu tốn ít điện hơn Float32.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212848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03  CƠ SỞ LÝ THUYẾT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Ý nghĩa của Edge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1">
                <a:solidFill>
                  <a:srgbClr val="96A8C0"/>
                </a:solidFill>
                <a:latin typeface="Segoe UI"/>
              </a:rPr>
              <a:t>Khác biệt căn bản so với thiết bị IoT truyền thống chỉ thu thập rồi đẩy lên đám mây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A78BFA"/>
                </a:solidFill>
                <a:latin typeface="Segoe UI"/>
              </a:rPr>
              <a:t>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9748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3154680"/>
            <a:ext cx="822960" cy="822960"/>
          </a:xfrm>
          <a:prstGeom prst="ellipse">
            <a:avLst/>
          </a:prstGeom>
          <a:solidFill>
            <a:srgbClr val="1C3352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1546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0" i="0">
                <a:solidFill>
                  <a:srgbClr val="34D399"/>
                </a:solidFill>
                <a:latin typeface="Segoe UI"/>
              </a:rPr>
              <a:t>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" y="3017520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  <a:latin typeface="Segoe UI Semibold"/>
              </a:rPr>
              <a:t>Hoạt động khi mất mạng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" y="3474720"/>
            <a:ext cx="38862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96A8C0"/>
                </a:solidFill>
                <a:latin typeface="Segoe UI"/>
              </a:rPr>
              <a:t>Vẫn phát hiện dị thường, chạy AI và kích hoạt còi/đèn dù WiFi mất hoàn toàn.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69748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64808" y="3154680"/>
            <a:ext cx="822960" cy="822960"/>
          </a:xfrm>
          <a:prstGeom prst="ellipse">
            <a:avLst/>
          </a:prstGeom>
          <a:solidFill>
            <a:srgbClr val="1C3352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31546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0" i="0">
                <a:solidFill>
                  <a:srgbClr val="22D3EE"/>
                </a:solidFill>
                <a:latin typeface="Segoe UI"/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8" y="3017520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  <a:latin typeface="Segoe UI Semibold"/>
              </a:rPr>
              <a:t>Độ trễ cực thấp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648" y="3474720"/>
            <a:ext cx="38862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96A8C0"/>
                </a:solidFill>
                <a:latin typeface="Segoe UI"/>
              </a:rPr>
              <a:t>Suy luận hoàn tất trong 216 ms ngay tại thiết bị, không có độ trễ mạng 100–500 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61772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5074920"/>
            <a:ext cx="822960" cy="822960"/>
          </a:xfrm>
          <a:prstGeom prst="ellipse">
            <a:avLst/>
          </a:prstGeom>
          <a:solidFill>
            <a:srgbClr val="1C3352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749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0" i="0">
                <a:solidFill>
                  <a:srgbClr val="60A5FA"/>
                </a:solidFill>
                <a:latin typeface="Segoe UI"/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38528" y="4937760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  <a:latin typeface="Segoe UI Semibold"/>
              </a:rPr>
              <a:t>Bảo mật dữ liệu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" y="5394960"/>
            <a:ext cx="38862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96A8C0"/>
                </a:solidFill>
                <a:latin typeface="Segoe UI"/>
              </a:rPr>
              <a:t>Dữ liệu xử lý cục bộ, chỉ gửi kết quả tổng hợp lên đám mây.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461772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64808" y="5074920"/>
            <a:ext cx="822960" cy="822960"/>
          </a:xfrm>
          <a:prstGeom prst="ellipse">
            <a:avLst/>
          </a:prstGeom>
          <a:solidFill>
            <a:srgbClr val="1C3352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50749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0" i="0">
                <a:solidFill>
                  <a:srgbClr val="FBBF24"/>
                </a:solidFill>
                <a:latin typeface="Segoe UI"/>
              </a:rPr>
              <a:t>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648" y="4937760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  <a:latin typeface="Segoe UI Semibold"/>
              </a:rPr>
              <a:t>Giảm chi phí Cloud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8" y="5394960"/>
            <a:ext cx="38862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96A8C0"/>
                </a:solidFill>
                <a:latin typeface="Segoe UI"/>
              </a:rPr>
              <a:t>Chỉ gửi 1 gói nhỏ mỗi 5 giây thay vì luồng dữ liệu thô liên tục.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04  TRIỂN KHAI FIRMWARE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Luồng hoạt động chính — loop() (chu kỳ 5 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FBBF24"/>
                </a:solidFill>
                <a:latin typeface="Segoe UI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86000"/>
            <a:ext cx="5349240" cy="841248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441448"/>
            <a:ext cx="530352" cy="53035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441448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39572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 i="0">
                <a:solidFill>
                  <a:srgbClr val="F1F5F9"/>
                </a:solidFill>
                <a:latin typeface="Segoe UI Semibold"/>
              </a:rPr>
              <a:t>Đọc cảm biến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743200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6A8C0"/>
                </a:solidFill>
                <a:latin typeface="Segoe UI"/>
              </a:rPr>
              <a:t>sensorManager.readAll() — BME280, Sharp, MQ135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286000"/>
            <a:ext cx="5349240" cy="841248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91656" y="2441448"/>
            <a:ext cx="530352" cy="530352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2441448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239572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 i="0">
                <a:solidFill>
                  <a:srgbClr val="F1F5F9"/>
                </a:solidFill>
                <a:latin typeface="Segoe UI Semibold"/>
              </a:rPr>
              <a:t>Lọc dị thường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2743200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6A8C0"/>
                </a:solidFill>
                <a:latin typeface="Segoe UI"/>
              </a:rPr>
              <a:t>isAnomaly() — thay xₜ bằng EMAₜ₋₁ nếu Z &gt;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73552"/>
            <a:ext cx="5349240" cy="841248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9536" y="3429000"/>
            <a:ext cx="530352" cy="5303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3429000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383280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 i="0">
                <a:solidFill>
                  <a:srgbClr val="F1F5F9"/>
                </a:solidFill>
                <a:latin typeface="Segoe UI Semibold"/>
              </a:rPr>
              <a:t>Dịch cửa sổ + chuẩn hóa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3730752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6A8C0"/>
                </a:solidFill>
                <a:latin typeface="Segoe UI"/>
              </a:rPr>
              <a:t>Shift buffer 24 bước, scaleData() → INT8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273552"/>
            <a:ext cx="5349240" cy="841248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3429000"/>
            <a:ext cx="530352" cy="5303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6" y="3429000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88" y="3383280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 i="0">
                <a:solidFill>
                  <a:srgbClr val="F1F5F9"/>
                </a:solidFill>
                <a:latin typeface="Segoe UI Semibold"/>
              </a:rPr>
              <a:t>Suy luận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88" y="3730752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6A8C0"/>
                </a:solidFill>
                <a:latin typeface="Segoe UI"/>
              </a:rPr>
              <a:t>interpreter-&gt;Invoke() — LSTM INT8 (216 ms)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261104"/>
            <a:ext cx="5349240" cy="841248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9536" y="4416552"/>
            <a:ext cx="530352" cy="530352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4416552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72768" y="4370832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 i="0">
                <a:solidFill>
                  <a:srgbClr val="F1F5F9"/>
                </a:solidFill>
                <a:latin typeface="Segoe UI Semibold"/>
              </a:rPr>
              <a:t>Giải lượng tử + Inverse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718304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6A8C0"/>
                </a:solidFill>
                <a:latin typeface="Segoe UI"/>
              </a:rPr>
              <a:t>Dequantize → final_pm25 (µg/m³)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0488" y="4261104"/>
            <a:ext cx="5349240" cy="841248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91656" y="4416552"/>
            <a:ext cx="530352" cy="53035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6" y="4416552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04888" y="4370832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 i="0">
                <a:solidFill>
                  <a:srgbClr val="F1F5F9"/>
                </a:solidFill>
                <a:latin typeface="Segoe UI Semibold"/>
              </a:rPr>
              <a:t>Cập nhật LCD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4888" y="4718304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6A8C0"/>
                </a:solidFill>
                <a:latin typeface="Segoe UI"/>
              </a:rPr>
              <a:t>displayManager.updateData() — Sprite DMA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248656"/>
            <a:ext cx="5349240" cy="841248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9536" y="5404104"/>
            <a:ext cx="530352" cy="530352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" y="5404104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72768" y="5358384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 i="0">
                <a:solidFill>
                  <a:srgbClr val="F1F5F9"/>
                </a:solidFill>
                <a:latin typeface="Segoe UI Semibold"/>
              </a:rPr>
              <a:t>Kiểm tra cảnh báo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2768" y="5705856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6A8C0"/>
                </a:solidFill>
                <a:latin typeface="Segoe UI"/>
              </a:rPr>
              <a:t>final_pm25 ≥ 80 → Buzzer + LED 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0488" y="5248656"/>
            <a:ext cx="5349240" cy="841248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91656" y="5404104"/>
            <a:ext cx="530352" cy="53035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91656" y="5404104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04888" y="5358384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 i="0">
                <a:solidFill>
                  <a:srgbClr val="F1F5F9"/>
                </a:solidFill>
                <a:latin typeface="Segoe UI Semibold"/>
              </a:rPr>
              <a:t>Đồng bộ Firebase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04888" y="5705856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6A8C0"/>
                </a:solidFill>
                <a:latin typeface="Segoe UI"/>
              </a:rPr>
              <a:t>Realtime 5 s  •  History 60 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1993392" cy="38404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99339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05  WEB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Giao diện giám sát trực tuyến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1">
                <a:solidFill>
                  <a:srgbClr val="96A8C0"/>
                </a:solidFill>
                <a:latin typeface="Segoe UI"/>
              </a:rPr>
              <a:t>aiot-air-quality.web.app  —  HTML5 / CSS3 / Vanilla JS + Chart.js v4, không framework nặng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2DD4BF"/>
                </a:solidFill>
                <a:latin typeface="Segoe UI"/>
              </a:rPr>
              <a:t>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06040"/>
            <a:ext cx="5486400" cy="361188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2DD4BF"/>
                </a:solidFill>
                <a:latin typeface="Segoe UI"/>
              </a:rPr>
              <a:t>✨  Thiết kế Glassmorphism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5029200" cy="2834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Kính mờ </a:t>
            </a:r>
            <a:r>
              <a:rPr sz="1250" b="1" i="0">
                <a:solidFill>
                  <a:srgbClr val="22D3EE"/>
                </a:solidFill>
                <a:latin typeface="Segoe UI"/>
              </a:rPr>
              <a:t>backdrop-filter: blur(20px)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 trên nền gradient tối.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Màu theo ngưỡng PM2.5: </a:t>
            </a:r>
            <a:r>
              <a:rPr sz="1250" b="1" i="0">
                <a:solidFill>
                  <a:srgbClr val="34D399"/>
                </a:solidFill>
                <a:latin typeface="Segoe UI"/>
              </a:rPr>
              <a:t>xanh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 / </a:t>
            </a:r>
            <a:r>
              <a:rPr sz="1250" b="1" i="0">
                <a:solidFill>
                  <a:srgbClr val="FBBF24"/>
                </a:solidFill>
                <a:latin typeface="Segoe UI"/>
              </a:rPr>
              <a:t>vàng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 / </a:t>
            </a:r>
            <a:r>
              <a:rPr sz="1250" b="1" i="0">
                <a:solidFill>
                  <a:srgbClr val="FB923C"/>
                </a:solidFill>
                <a:latin typeface="Segoe UI"/>
              </a:rPr>
              <a:t>cam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 / </a:t>
            </a:r>
            <a:r>
              <a:rPr sz="1250" b="1" i="0">
                <a:solidFill>
                  <a:srgbClr val="F87171"/>
                </a:solidFill>
                <a:latin typeface="Segoe UI"/>
              </a:rPr>
              <a:t>đỏ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Badge nhấp nháy </a:t>
            </a:r>
            <a:r>
              <a:rPr sz="1250" b="1" i="0">
                <a:solidFill>
                  <a:srgbClr val="F87171"/>
                </a:solidFill>
                <a:latin typeface="Segoe UI"/>
              </a:rPr>
              <a:t>[!] ANOMALY DETECTED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 khi phát hiện gai nhiễu.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Responsive Flexbox/Grid, breakpoint 768 px (Grid 2×2 trên mobile).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2606040"/>
            <a:ext cx="5212080" cy="361188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78892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60A5FA"/>
                </a:solidFill>
                <a:latin typeface="Segoe UI"/>
              </a:rPr>
              <a:t>📊  Ba luồng dữ liệu &amp; tải trước</a:t>
            </a:r>
          </a:p>
        </p:txBody>
      </p:sp>
      <p:sp>
        <p:nvSpPr>
          <p:cNvPr id="17" name="Oval 16"/>
          <p:cNvSpPr/>
          <p:nvPr/>
        </p:nvSpPr>
        <p:spPr>
          <a:xfrm>
            <a:off x="6601968" y="3364992"/>
            <a:ext cx="292608" cy="292608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329184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Segoe UI"/>
              </a:rPr>
              <a:t>PM2.5 thô  </a:t>
            </a:r>
            <a:r>
              <a:rPr sz="1150" b="0" i="1">
                <a:solidFill>
                  <a:srgbClr val="96A8C0"/>
                </a:solidFill>
                <a:latin typeface="Segoe UI"/>
              </a:rPr>
              <a:t>raw — đọc trực tiếp từ cảm biến</a:t>
            </a:r>
          </a:p>
        </p:txBody>
      </p:sp>
      <p:sp>
        <p:nvSpPr>
          <p:cNvPr id="19" name="Oval 18"/>
          <p:cNvSpPr/>
          <p:nvPr/>
        </p:nvSpPr>
        <p:spPr>
          <a:xfrm>
            <a:off x="6601968" y="4023360"/>
            <a:ext cx="292608" cy="292608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3950208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Segoe UI"/>
              </a:rPr>
              <a:t>PM2.5 đã lọc  </a:t>
            </a:r>
            <a:r>
              <a:rPr sz="1150" b="0" i="1">
                <a:solidFill>
                  <a:srgbClr val="96A8C0"/>
                </a:solidFill>
                <a:latin typeface="Segoe UI"/>
              </a:rPr>
              <a:t>filtered — sau Z-Score/EMA</a:t>
            </a:r>
          </a:p>
        </p:txBody>
      </p:sp>
      <p:sp>
        <p:nvSpPr>
          <p:cNvPr id="21" name="Oval 20"/>
          <p:cNvSpPr/>
          <p:nvPr/>
        </p:nvSpPr>
        <p:spPr>
          <a:xfrm>
            <a:off x="6601968" y="4681728"/>
            <a:ext cx="292608" cy="29260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4608576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Segoe UI"/>
              </a:rPr>
              <a:t>PM2.5 dự báo AI  </a:t>
            </a:r>
            <a:r>
              <a:rPr sz="1150" b="0" i="1">
                <a:solidFill>
                  <a:srgbClr val="96A8C0"/>
                </a:solidFill>
                <a:latin typeface="Segoe UI"/>
              </a:rPr>
              <a:t>predicted — 1 giờ tới (LSTM)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01968" y="5349240"/>
            <a:ext cx="4663440" cy="713232"/>
          </a:xfrm>
          <a:prstGeom prst="roundRect">
            <a:avLst>
              <a:gd name="adj" fmla="val 10000"/>
            </a:avLst>
          </a:prstGeom>
          <a:solidFill>
            <a:srgbClr val="1C3352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5349240"/>
            <a:ext cx="4389120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1F5F9"/>
                </a:solidFill>
                <a:latin typeface="Segoe UI"/>
              </a:rPr>
              <a:t>Tải trước 30 bản ghi lịch sử </a:t>
            </a:r>
            <a:r>
              <a:rPr sz="1200" b="1" i="0">
                <a:solidFill>
                  <a:srgbClr val="22D3EE"/>
                </a:solidFill>
                <a:latin typeface="Segoe UI"/>
              </a:rPr>
              <a:t>(limitToLast(30))</a:t>
            </a:r>
            <a:r>
              <a:rPr sz="1200" b="0" i="0">
                <a:solidFill>
                  <a:srgbClr val="F1F5F9"/>
                </a:solidFill>
                <a:latin typeface="Segoe UI"/>
              </a:rPr>
              <a:t> → biểu đồ liền mạch ngay khi mở trang.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542032" cy="38404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06  KẾT QUẢ &amp; KẾT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Kết quả đo đạc hiệu năng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F87171"/>
                </a:solidFill>
                <a:latin typeface="Segoe UI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4028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23160"/>
            <a:ext cx="267004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  <a:latin typeface="Segoe UI Semibold"/>
              </a:rPr>
              <a:t>216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108960"/>
            <a:ext cx="26700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 b="0" i="0">
                <a:solidFill>
                  <a:srgbClr val="96A8C0"/>
                </a:solidFill>
                <a:latin typeface="Segoe UI"/>
              </a:rPr>
              <a:t>Suy luận LSTM INT8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224028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2423160"/>
            <a:ext cx="267004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  <a:latin typeface="Segoe UI Semibold"/>
              </a:rPr>
              <a:t>4,3 %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3108960"/>
            <a:ext cx="26700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 b="0" i="0">
                <a:solidFill>
                  <a:srgbClr val="96A8C0"/>
                </a:solidFill>
                <a:latin typeface="Segoe UI"/>
              </a:rPr>
              <a:t>CPU dành cho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24028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423160"/>
            <a:ext cx="267004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 b="1" i="0">
                <a:solidFill>
                  <a:srgbClr val="FBBF24"/>
                </a:solidFill>
                <a:latin typeface="Segoe UI Semibold"/>
              </a:rPr>
              <a:t>≈ 40 KB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108960"/>
            <a:ext cx="26700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 b="0" i="0">
                <a:solidFill>
                  <a:srgbClr val="96A8C0"/>
                </a:solidFill>
                <a:latin typeface="Segoe UI"/>
              </a:rPr>
              <a:t>Mô hình INT8 (Flash)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288" y="224028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2288" y="2423160"/>
            <a:ext cx="267004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 b="1" i="0">
                <a:solidFill>
                  <a:srgbClr val="F87171"/>
                </a:solidFill>
                <a:latin typeface="Segoe UI Semibold"/>
              </a:rPr>
              <a:t>506,6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3108960"/>
            <a:ext cx="26700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 b="0" i="0">
                <a:solidFill>
                  <a:srgbClr val="96A8C0"/>
                </a:solidFill>
                <a:latin typeface="Segoe UI"/>
              </a:rPr>
              <a:t>µg/m³ gai nhiễu bị chặn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58368" y="3840480"/>
          <a:ext cx="10881360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0640"/>
                <a:gridCol w="2743200"/>
                <a:gridCol w="3017520"/>
              </a:tblGrid>
              <a:tr h="33310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627"/>
                          </a:solidFill>
                          <a:latin typeface="Segoe UI"/>
                        </a:rPr>
                        <a:t>Chỉ số đo lường</a:t>
                      </a:r>
                    </a:p>
                  </a:txBody>
                  <a:tcPr marL="91440" marR="73152" marT="36576" marB="36576" anchor="ctr">
                    <a:solidFill>
                      <a:srgbClr val="F8717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627"/>
                          </a:solidFill>
                          <a:latin typeface="Segoe UI"/>
                        </a:rPr>
                        <a:t>Giá trị</a:t>
                      </a:r>
                    </a:p>
                  </a:txBody>
                  <a:tcPr marL="91440" marR="73152" marT="36576" marB="36576" anchor="ctr">
                    <a:solidFill>
                      <a:srgbClr val="F8717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627"/>
                          </a:solidFill>
                          <a:latin typeface="Segoe UI"/>
                        </a:rPr>
                        <a:t>Ghi chú</a:t>
                      </a:r>
                    </a:p>
                  </a:txBody>
                  <a:tcPr marL="91440" marR="73152" marT="36576" marB="36576" anchor="ctr">
                    <a:solidFill>
                      <a:srgbClr val="F87171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1F5F9"/>
                          </a:solidFill>
                          <a:latin typeface="Segoe UI"/>
                        </a:rPr>
                        <a:t>Thời gian suy luận LSTM INT8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216 ms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Đo bằng millis()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1F5F9"/>
                          </a:solidFill>
                          <a:latin typeface="Segoe UI"/>
                        </a:rPr>
                        <a:t>Chu kỳ vòng lặp chính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5000 ms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delay(5000)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1F5F9"/>
                          </a:solidFill>
                          <a:latin typeface="Segoe UI"/>
                        </a:rPr>
                        <a:t>Tỉ lệ CPU dành cho AI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4,3 %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216 / 5000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1F5F9"/>
                          </a:solidFill>
                          <a:latin typeface="Segoe UI"/>
                        </a:rPr>
                        <a:t>Mô hình TFLite (INT8) / gốc (Float32)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≈ 40 / 160 KB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Giảm 4× sau lượng tử hóa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1F5F9"/>
                          </a:solidFill>
                          <a:latin typeface="Segoe UI"/>
                        </a:rPr>
                        <a:t>Tensor Arena trong PSRAM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2048 KB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heap_caps_malloc</a:t>
                      </a:r>
                    </a:p>
                  </a:txBody>
                  <a:tcPr marL="91440" marR="73152" marT="36576" marB="36576" anchor="ctr">
                    <a:solidFill>
                      <a:srgbClr val="16273E"/>
                    </a:solidFill>
                  </a:tcPr>
                </a:tc>
              </a:tr>
              <a:tr h="3331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1F5F9"/>
                          </a:solidFill>
                          <a:latin typeface="Segoe UI"/>
                        </a:rPr>
                        <a:t>Chu kỳ realtime / history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5 s / 60 s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6A8C0"/>
                          </a:solidFill>
                          <a:latin typeface="Segoe UI"/>
                        </a:rPr>
                        <a:t>/sensor,/ai  •  /history</a:t>
                      </a:r>
                    </a:p>
                  </a:txBody>
                  <a:tcPr marL="91440" marR="73152" marT="36576" marB="36576" anchor="ctr">
                    <a:solidFill>
                      <a:srgbClr val="1C33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542032" cy="38404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06  KẾT QUẢ &amp; KẾT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Thực nghiệm bộ lọc dị thường Z-Score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F87171"/>
                </a:solidFill>
                <a:latin typeface="Segoe UI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86000"/>
            <a:ext cx="6675120" cy="393192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835" y="2468880"/>
            <a:ext cx="5102186" cy="35661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79" y="2286000"/>
            <a:ext cx="4041648" cy="393192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4688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  <a:latin typeface="Segoe UI"/>
              </a:rPr>
              <a:t>Kịch bản: thổi khói trực tiếp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017520"/>
            <a:ext cx="3611880" cy="3108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50" b="1" i="0">
                <a:solidFill>
                  <a:srgbClr val="F87171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PM2.5 thô vọt lên </a:t>
            </a:r>
            <a:r>
              <a:rPr sz="1250" b="1" i="0">
                <a:solidFill>
                  <a:srgbClr val="F87171"/>
                </a:solidFill>
                <a:latin typeface="Segoe UI"/>
              </a:rPr>
              <a:t>506,6 µg/m³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50" b="1" i="0">
                <a:solidFill>
                  <a:srgbClr val="F87171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Serial báo: </a:t>
            </a:r>
            <a:r>
              <a:rPr sz="1150" b="1" i="0">
                <a:solidFill>
                  <a:srgbClr val="FBBF24"/>
                </a:solidFill>
                <a:latin typeface="Segoe UI"/>
              </a:rPr>
              <a:t>[ANOMALY] Filtered out!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50" b="1" i="0">
                <a:solidFill>
                  <a:srgbClr val="F87171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Đường PM2.5 đã lọc vẫn </a:t>
            </a:r>
            <a:r>
              <a:rPr sz="1250" b="1" i="0">
                <a:solidFill>
                  <a:srgbClr val="34D399"/>
                </a:solidFill>
                <a:latin typeface="Segoe UI"/>
              </a:rPr>
              <a:t>mượt mà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 — gai nhiễu bị chặn 100%.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50" b="1" i="0">
                <a:solidFill>
                  <a:srgbClr val="F87171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Dự báo AI </a:t>
            </a:r>
            <a:r>
              <a:rPr sz="1250" b="1" i="0">
                <a:solidFill>
                  <a:srgbClr val="34D399"/>
                </a:solidFill>
                <a:latin typeface="Segoe UI"/>
              </a:rPr>
              <a:t>không bị ảnh hưởng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 vì nhận giá trị EMA ổn định.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542032" cy="38404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06  KẾT QUẢ &amp; KẾT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Sản phẩm thực tế &amp; cảnh báo sớm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F87171"/>
                </a:solidFill>
                <a:latin typeface="Segoe UI"/>
              </a:rPr>
              <a:t>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86000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_product_r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68880"/>
            <a:ext cx="4754880" cy="35661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327648" y="228600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688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  <a:latin typeface="Segoe UI"/>
              </a:rPr>
              <a:t>🔔  Cảnh báo dựa trên DỰ BÁO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71800"/>
            <a:ext cx="470916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F1F5F9"/>
                </a:solidFill>
                <a:latin typeface="Segoe UI"/>
              </a:rPr>
              <a:t>Hệ thống phản ứng </a:t>
            </a:r>
            <a:r>
              <a:rPr sz="1300" b="1" i="0">
                <a:solidFill>
                  <a:srgbClr val="FBBF24"/>
                </a:solidFill>
                <a:latin typeface="Segoe UI"/>
              </a:rPr>
              <a:t>trước</a:t>
            </a:r>
            <a:r>
              <a:rPr sz="1300" b="0" i="0">
                <a:solidFill>
                  <a:srgbClr val="F1F5F9"/>
                </a:solidFill>
                <a:latin typeface="Segoe UI"/>
              </a:rPr>
              <a:t> khi ô nhiễm đạt mức nguy hiểm — cho người dùng thời gian đeo khẩu trang, bật máy lọc, đóng cửa sổ.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01968" y="3977639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1C3352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3977639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50" b="1" i="0">
                <a:solidFill>
                  <a:srgbClr val="F1F5F9"/>
                </a:solidFill>
                <a:latin typeface="Segoe UI"/>
              </a:rPr>
              <a:t>final_pm25 ≥ 80 µg/m³  →  Buzzer + 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937760"/>
            <a:ext cx="470916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 i="0">
                <a:solidFill>
                  <a:srgbClr val="FBBF24"/>
                </a:solidFill>
                <a:latin typeface="Segoe UI"/>
              </a:rPr>
              <a:t>▸  </a:t>
            </a:r>
            <a:r>
              <a:rPr sz="1200" b="0" i="0">
                <a:solidFill>
                  <a:srgbClr val="F1F5F9"/>
                </a:solidFill>
                <a:latin typeface="Segoe UI"/>
              </a:rPr>
              <a:t>Ngưỡng 80 µg/m³ = mức </a:t>
            </a:r>
            <a:r>
              <a:rPr sz="1200" b="1" i="0">
                <a:solidFill>
                  <a:srgbClr val="FBBF24"/>
                </a:solidFill>
                <a:latin typeface="Segoe UI"/>
              </a:rPr>
              <a:t>"Unhealthy for Sensitive Groups"</a:t>
            </a:r>
            <a:r>
              <a:rPr sz="1200" b="0" i="0">
                <a:solidFill>
                  <a:srgbClr val="F1F5F9"/>
                </a:solidFill>
                <a:latin typeface="Segoe UI"/>
              </a:rPr>
              <a:t> (EPA AQI).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 i="0">
                <a:solidFill>
                  <a:srgbClr val="FBBF24"/>
                </a:solidFill>
                <a:latin typeface="Segoe UI"/>
              </a:rPr>
              <a:t>▸  </a:t>
            </a:r>
            <a:r>
              <a:rPr sz="1200" b="0" i="0">
                <a:solidFill>
                  <a:srgbClr val="F1F5F9"/>
                </a:solidFill>
                <a:latin typeface="Segoe UI"/>
              </a:rPr>
              <a:t>Còi 1000 Hz không chặn luồng (non-blocking).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542032" cy="38404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06  KẾT QUẢ &amp; KẾT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Đánh giá tổng thể &amp; điểm hạn chế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F87171"/>
                </a:solidFill>
                <a:latin typeface="Segoe UI"/>
              </a:rPr>
              <a:t>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86000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4688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  <a:latin typeface="Segoe UI"/>
              </a:rPr>
              <a:t>✔  Đã đạt được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017520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F1F5F9"/>
                </a:solidFill>
                <a:latin typeface="Segoe UI"/>
              </a:rPr>
              <a:t>Hoạt động ổn định 24/7, độ tin cậy cao.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F1F5F9"/>
                </a:solidFill>
                <a:latin typeface="Segoe UI"/>
              </a:rPr>
              <a:t>Bộ lọc Z-Score+EMA chặn 100% gai nhiễu trong kiểm thử.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F1F5F9"/>
                </a:solidFill>
                <a:latin typeface="Segoe UI"/>
              </a:rPr>
              <a:t>LSTM INT8 chạy hiệu quả, suy luận 216 ms.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F1F5F9"/>
                </a:solidFill>
                <a:latin typeface="Segoe UI"/>
              </a:rPr>
              <a:t>Web Dashboard responsive, giám sát từ xa hữu ích.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228600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4688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Segoe UI"/>
              </a:rPr>
              <a:t>⚠  Hạn chế hiện tại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017520"/>
            <a:ext cx="4709160" cy="3017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FBBF24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F1F5F9"/>
                </a:solidFill>
                <a:latin typeface="Segoe UI"/>
              </a:rPr>
              <a:t>Sharp GP2Y1014 cho chỉ số </a:t>
            </a:r>
            <a:r>
              <a:rPr sz="1300" b="1" i="0">
                <a:solidFill>
                  <a:srgbClr val="FBBF24"/>
                </a:solidFill>
                <a:latin typeface="Segoe UI"/>
              </a:rPr>
              <a:t>tương đối</a:t>
            </a:r>
            <a:r>
              <a:rPr sz="1300" b="0" i="0">
                <a:solidFill>
                  <a:srgbClr val="F1F5F9"/>
                </a:solidFill>
                <a:latin typeface="Segoe UI"/>
              </a:rPr>
              <a:t>, chưa hiệu chuẩn theo PMS7003.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FBBF24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F1F5F9"/>
                </a:solidFill>
                <a:latin typeface="Segoe UI"/>
              </a:rPr>
              <a:t>LSTM huấn luyện trên </a:t>
            </a:r>
            <a:r>
              <a:rPr sz="1300" b="1" i="0">
                <a:solidFill>
                  <a:srgbClr val="FBBF24"/>
                </a:solidFill>
                <a:latin typeface="Segoe UI"/>
              </a:rPr>
              <a:t>dữ liệu giả lập</a:t>
            </a:r>
            <a:r>
              <a:rPr sz="1300" b="0" i="0">
                <a:solidFill>
                  <a:srgbClr val="F1F5F9"/>
                </a:solidFill>
                <a:latin typeface="Segoe UI"/>
              </a:rPr>
              <a:t>, chưa đủ dữ liệu thực nhiều tuần.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FBBF24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F1F5F9"/>
                </a:solidFill>
                <a:latin typeface="Segoe UI"/>
              </a:rPr>
              <a:t>Chưa tích hợp pin sạc — phụ thuộc nguồn USB cố định.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280160"/>
            <a:ext cx="4206240" cy="420624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542032" cy="38404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0B1627"/>
                </a:solidFill>
                <a:latin typeface="Segoe UI"/>
              </a:rPr>
              <a:t>06  KẾT QUẢ &amp; KẾT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Segoe UI Semibold"/>
              </a:rPr>
              <a:t>Kết luận &amp; hướng phát triển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51560" cy="4064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27080" cy="9525"/>
          </a:xfrm>
          <a:prstGeom prst="rect">
            <a:avLst/>
          </a:prstGeom>
          <a:solidFill>
            <a:srgbClr val="2B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8C0"/>
                </a:solidFill>
                <a:latin typeface="Segoe UI"/>
              </a:rPr>
              <a:t>Hệ thống Giám sát Chất lượng Không khí AIoT  •  Nhóm KANT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i="0">
                <a:solidFill>
                  <a:srgbClr val="F87171"/>
                </a:solidFill>
                <a:latin typeface="Segoe UI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574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1">
                <a:solidFill>
                  <a:srgbClr val="2DD4BF"/>
                </a:solidFill>
                <a:latin typeface="Segoe UI"/>
              </a:rPr>
              <a:t>Hoàn thành cả 4 mục tiêu: phần cứng đa chỉ số • lọc nhiễu thông minh • Edge AI tại biên • hệ sinh thái Cloud.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97480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2770632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27706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8488" y="2697480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Segoe UI Semibold"/>
              </a:rPr>
              <a:t>Nâng cấp cảm biến PMS7003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2697480"/>
            <a:ext cx="548640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96A8C0"/>
                </a:solidFill>
                <a:latin typeface="Segoe UI"/>
              </a:rPr>
              <a:t>Cảm biến laser UART, PM1.0/2.5/10 hiệu chuẩn ±10 µg/m³.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456432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529584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52958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3456432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Segoe UI Semibold"/>
              </a:rPr>
              <a:t>Thu thập dữ liệu thực &amp; tái huấn luyện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3456432"/>
            <a:ext cx="548640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96A8C0"/>
                </a:solidFill>
                <a:latin typeface="Segoe UI"/>
              </a:rPr>
              <a:t>4–6 tuần dữ liệu Việt Nam, thêm tầng Attention cho LSTM.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215384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4288536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28853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18488" y="4215384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Segoe UI Semibold"/>
              </a:rPr>
              <a:t>Cập nhật firmware OTA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0448" y="4215384"/>
            <a:ext cx="548640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96A8C0"/>
                </a:solidFill>
                <a:latin typeface="Segoe UI"/>
              </a:rPr>
              <a:t>ArduinoOTA / Firebase Storage cập nhật từ xa qua WiFi.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74336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5047488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504748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18488" y="4974336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Segoe UI Semibold"/>
              </a:rPr>
              <a:t>Thiết kế PCB &amp; tích hợp pin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0448" y="4974336"/>
            <a:ext cx="548640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96A8C0"/>
                </a:solidFill>
                <a:latin typeface="Segoe UI"/>
              </a:rPr>
              <a:t>Bo mạch in gọn, sạc Li-Po, Deep Sleep tiết kiệm điện.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733288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580644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58064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0B1627"/>
                </a:solidFill>
                <a:latin typeface="Segoe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18488" y="5733288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Segoe UI Semibold"/>
              </a:rPr>
              <a:t>Mở rộng mạng lưới trạm đo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0448" y="5733288"/>
            <a:ext cx="548640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96A8C0"/>
                </a:solidFill>
                <a:latin typeface="Segoe UI"/>
              </a:rPr>
              <a:t>Nhiều thiết bị + heatmap phân bố ô nhiễm theo không gian.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627"/>
              </a:gs>
              <a:gs pos="100000">
                <a:srgbClr val="122A45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59775" y="-1645920"/>
            <a:ext cx="5486400" cy="5486400"/>
          </a:xfrm>
          <a:prstGeom prst="ellipse">
            <a:avLst/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3931920"/>
            <a:ext cx="4572000" cy="4572000"/>
          </a:xfrm>
          <a:prstGeom prst="ellipse">
            <a:avLst/>
          </a:prstGeom>
          <a:solidFill>
            <a:srgbClr val="16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1F5F9"/>
                </a:solidFill>
                <a:latin typeface="Segoe UI Semibold"/>
              </a:rPr>
              <a:t>Cảm ơn Thầy và các bạn</a:t>
            </a:r>
          </a:p>
          <a:p>
            <a:pPr algn="l"/>
            <a:r>
              <a:rPr sz="4400" b="1" i="0">
                <a:solidFill>
                  <a:srgbClr val="22D3EE"/>
                </a:solidFill>
                <a:latin typeface="Segoe UI Semibold"/>
              </a:rPr>
              <a:t>đã lắng nghe!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977639"/>
            <a:ext cx="1463040" cy="444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2519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1">
                <a:solidFill>
                  <a:srgbClr val="96A8C0"/>
                </a:solidFill>
                <a:latin typeface="Segoe UI"/>
              </a:rPr>
              <a:t>Q &amp; A  —  Rất mong nhận được góp ý từ Thầy và các bạn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120640"/>
            <a:ext cx="10424160" cy="914400"/>
          </a:xfrm>
          <a:prstGeom prst="roundRect">
            <a:avLst>
              <a:gd name="adj" fmla="val 6000"/>
            </a:avLst>
          </a:prstGeom>
          <a:solidFill>
            <a:srgbClr val="16273E"/>
          </a:solidFill>
          <a:ln w="12700">
            <a:solidFill>
              <a:srgbClr val="2B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1206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Segoe UI"/>
              </a:rPr>
              <a:t>🌐  Demo trực tuyến:  </a:t>
            </a:r>
            <a:r>
              <a:rPr sz="1400" b="0" i="0">
                <a:solidFill>
                  <a:srgbClr val="F1F5F9"/>
                </a:solidFill>
                <a:latin typeface="Segoe UI"/>
              </a:rPr>
              <a:t>https://aiot-air-quality.web.app</a:t>
            </a:r>
            <a:r>
              <a:rPr sz="1300" b="0" i="0">
                <a:solidFill>
                  <a:srgbClr val="96A8C0"/>
                </a:solidFill>
                <a:latin typeface="Segoe UI"/>
              </a:rPr>
              <a:t>        •        Nhóm KANT  —  23CT111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